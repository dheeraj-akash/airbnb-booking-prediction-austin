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64" r:id="rId5"/>
    <p:sldId id="258" r:id="rId6"/>
    <p:sldId id="259" r:id="rId7"/>
    <p:sldId id="265" r:id="rId8"/>
    <p:sldId id="271" r:id="rId9"/>
    <p:sldId id="273" r:id="rId10"/>
    <p:sldId id="272" r:id="rId11"/>
    <p:sldId id="274" r:id="rId12"/>
    <p:sldId id="267" r:id="rId13"/>
    <p:sldId id="268" r:id="rId14"/>
    <p:sldId id="270" r:id="rId15"/>
    <p:sldId id="269" r:id="rId16"/>
    <p:sldId id="277" r:id="rId17"/>
    <p:sldId id="278" r:id="rId18"/>
    <p:sldId id="279"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FC1C"/>
    <a:srgbClr val="3D12DB"/>
    <a:srgbClr val="68FC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A212E-59F3-7961-D237-95198F0C891A}" v="33" dt="2024-04-24T03:50:48.565"/>
    <p1510:client id="{48558375-6E28-9BC4-6B18-0172D1AFC7EA}" v="131" dt="2024-04-24T03:50:10.623"/>
    <p1510:client id="{7792BCBA-675C-597C-75E0-B91385706BBC}" v="397" dt="2024-04-24T03:51:57.514"/>
    <p1510:client id="{EEC49D15-DE24-4000-5428-F3A6FABF5783}" v="360" dt="2024-04-24T03:26:59.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DEA788-6EF4-4887-99F1-64743892368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A080654-F263-458C-A387-C8E4690F3A89}">
      <dgm:prSet phldrT="[Text]" phldr="0"/>
      <dgm:spPr/>
      <dgm:t>
        <a:bodyPr/>
        <a:lstStyle/>
        <a:p>
          <a:pPr>
            <a:lnSpc>
              <a:spcPct val="100000"/>
            </a:lnSpc>
            <a:defRPr cap="all"/>
          </a:pPr>
          <a:r>
            <a:rPr lang="en-US">
              <a:latin typeface="Aptos Display" panose="02110004020202020204"/>
            </a:rPr>
            <a:t>introduction</a:t>
          </a:r>
          <a:endParaRPr lang="en-US"/>
        </a:p>
      </dgm:t>
    </dgm:pt>
    <dgm:pt modelId="{370CD657-43AF-4B7F-ABE1-2067BC062E9F}" type="parTrans" cxnId="{19DAF13D-5BD7-462E-83AA-8C8A35449C5D}">
      <dgm:prSet/>
      <dgm:spPr/>
      <dgm:t>
        <a:bodyPr/>
        <a:lstStyle/>
        <a:p>
          <a:endParaRPr lang="en-US"/>
        </a:p>
      </dgm:t>
    </dgm:pt>
    <dgm:pt modelId="{F4043240-252B-414B-9565-39F220145138}" type="sibTrans" cxnId="{19DAF13D-5BD7-462E-83AA-8C8A35449C5D}">
      <dgm:prSet/>
      <dgm:spPr/>
      <dgm:t>
        <a:bodyPr/>
        <a:lstStyle/>
        <a:p>
          <a:endParaRPr lang="en-US"/>
        </a:p>
      </dgm:t>
    </dgm:pt>
    <dgm:pt modelId="{19415C88-DF9E-4FFE-8758-62F44276C5DA}">
      <dgm:prSet phldrT="[Text]" phldr="0"/>
      <dgm:spPr/>
      <dgm:t>
        <a:bodyPr/>
        <a:lstStyle/>
        <a:p>
          <a:pPr>
            <a:lnSpc>
              <a:spcPct val="100000"/>
            </a:lnSpc>
            <a:defRPr cap="all"/>
          </a:pPr>
          <a:r>
            <a:rPr lang="en-US">
              <a:latin typeface="Aptos Display" panose="02110004020202020204"/>
            </a:rPr>
            <a:t>Exploratory Data Analysis</a:t>
          </a:r>
          <a:endParaRPr lang="en-US"/>
        </a:p>
      </dgm:t>
    </dgm:pt>
    <dgm:pt modelId="{291C87CC-1250-4DD7-A359-98D9A9DBA483}" type="parTrans" cxnId="{A79DEA81-9330-4A63-AAE2-EF913A52828C}">
      <dgm:prSet/>
      <dgm:spPr/>
      <dgm:t>
        <a:bodyPr/>
        <a:lstStyle/>
        <a:p>
          <a:endParaRPr lang="en-US"/>
        </a:p>
      </dgm:t>
    </dgm:pt>
    <dgm:pt modelId="{90E7D544-78E5-46F6-B027-2DC5D29A36CD}" type="sibTrans" cxnId="{A79DEA81-9330-4A63-AAE2-EF913A52828C}">
      <dgm:prSet/>
      <dgm:spPr/>
      <dgm:t>
        <a:bodyPr/>
        <a:lstStyle/>
        <a:p>
          <a:endParaRPr lang="en-US"/>
        </a:p>
      </dgm:t>
    </dgm:pt>
    <dgm:pt modelId="{5CCFEC5C-7CD0-4736-A47E-A334E731D2D1}">
      <dgm:prSet phldrT="[Text]" phldr="0"/>
      <dgm:spPr/>
      <dgm:t>
        <a:bodyPr/>
        <a:lstStyle/>
        <a:p>
          <a:pPr>
            <a:lnSpc>
              <a:spcPct val="100000"/>
            </a:lnSpc>
            <a:defRPr cap="all"/>
          </a:pPr>
          <a:r>
            <a:rPr lang="en-US">
              <a:latin typeface="Aptos Display" panose="02110004020202020204"/>
            </a:rPr>
            <a:t>Approach and models</a:t>
          </a:r>
          <a:endParaRPr lang="en-US"/>
        </a:p>
      </dgm:t>
    </dgm:pt>
    <dgm:pt modelId="{52CFDBE8-B842-4E38-9A8D-9517A1D7842E}" type="parTrans" cxnId="{C039520E-2A91-44FE-AC91-0E70A4F17B4F}">
      <dgm:prSet/>
      <dgm:spPr/>
      <dgm:t>
        <a:bodyPr/>
        <a:lstStyle/>
        <a:p>
          <a:endParaRPr lang="en-US"/>
        </a:p>
      </dgm:t>
    </dgm:pt>
    <dgm:pt modelId="{8E4AEA06-0928-4B0A-994F-4219337B7EBA}" type="sibTrans" cxnId="{C039520E-2A91-44FE-AC91-0E70A4F17B4F}">
      <dgm:prSet/>
      <dgm:spPr/>
      <dgm:t>
        <a:bodyPr/>
        <a:lstStyle/>
        <a:p>
          <a:endParaRPr lang="en-US"/>
        </a:p>
      </dgm:t>
    </dgm:pt>
    <dgm:pt modelId="{F8A19936-63A0-4A9A-8F35-CFF440C77EE3}">
      <dgm:prSet phldrT="[Text]" phldr="0"/>
      <dgm:spPr/>
      <dgm:t>
        <a:bodyPr/>
        <a:lstStyle/>
        <a:p>
          <a:pPr>
            <a:lnSpc>
              <a:spcPct val="100000"/>
            </a:lnSpc>
            <a:defRPr cap="all"/>
          </a:pPr>
          <a:r>
            <a:rPr lang="en-US">
              <a:latin typeface="Aptos Display" panose="02110004020202020204"/>
            </a:rPr>
            <a:t>Results</a:t>
          </a:r>
          <a:endParaRPr lang="en-US"/>
        </a:p>
      </dgm:t>
    </dgm:pt>
    <dgm:pt modelId="{8A38CA0F-A682-4A10-B234-C7CAFB6527F3}" type="parTrans" cxnId="{5CD4049B-3651-4CEA-AC53-1CC0D72EDB00}">
      <dgm:prSet/>
      <dgm:spPr/>
      <dgm:t>
        <a:bodyPr/>
        <a:lstStyle/>
        <a:p>
          <a:endParaRPr lang="en-US"/>
        </a:p>
      </dgm:t>
    </dgm:pt>
    <dgm:pt modelId="{FBD8D448-F4BF-4B06-8E8C-17A0735C3C09}" type="sibTrans" cxnId="{5CD4049B-3651-4CEA-AC53-1CC0D72EDB00}">
      <dgm:prSet/>
      <dgm:spPr/>
      <dgm:t>
        <a:bodyPr/>
        <a:lstStyle/>
        <a:p>
          <a:endParaRPr lang="en-US"/>
        </a:p>
      </dgm:t>
    </dgm:pt>
    <dgm:pt modelId="{4B36CE74-E8BC-4F42-8349-C49DDC92169A}">
      <dgm:prSet phldrT="[Text]" phldr="0"/>
      <dgm:spPr/>
      <dgm:t>
        <a:bodyPr/>
        <a:lstStyle/>
        <a:p>
          <a:pPr>
            <a:lnSpc>
              <a:spcPct val="100000"/>
            </a:lnSpc>
            <a:defRPr cap="all"/>
          </a:pPr>
          <a:r>
            <a:rPr lang="en-US">
              <a:latin typeface="Aptos Display" panose="02110004020202020204"/>
            </a:rPr>
            <a:t>Conclusion</a:t>
          </a:r>
          <a:endParaRPr lang="en-US"/>
        </a:p>
      </dgm:t>
    </dgm:pt>
    <dgm:pt modelId="{EE6711BD-BA51-4929-A713-FDC2926A2A7D}" type="parTrans" cxnId="{C08ED605-1250-432C-9F17-69414EF0A219}">
      <dgm:prSet/>
      <dgm:spPr/>
      <dgm:t>
        <a:bodyPr/>
        <a:lstStyle/>
        <a:p>
          <a:endParaRPr lang="en-US"/>
        </a:p>
      </dgm:t>
    </dgm:pt>
    <dgm:pt modelId="{DC19B800-782B-448A-BCA9-F2FB704DE675}" type="sibTrans" cxnId="{C08ED605-1250-432C-9F17-69414EF0A219}">
      <dgm:prSet/>
      <dgm:spPr/>
      <dgm:t>
        <a:bodyPr/>
        <a:lstStyle/>
        <a:p>
          <a:endParaRPr lang="en-US"/>
        </a:p>
      </dgm:t>
    </dgm:pt>
    <dgm:pt modelId="{8065032D-B38B-4075-9595-12B4A4A26BA3}" type="pres">
      <dgm:prSet presAssocID="{10DEA788-6EF4-4887-99F1-647438923681}" presName="root" presStyleCnt="0">
        <dgm:presLayoutVars>
          <dgm:dir/>
          <dgm:resizeHandles val="exact"/>
        </dgm:presLayoutVars>
      </dgm:prSet>
      <dgm:spPr/>
    </dgm:pt>
    <dgm:pt modelId="{5E781340-13D6-4B17-A678-9BD34B264B1A}" type="pres">
      <dgm:prSet presAssocID="{CA080654-F263-458C-A387-C8E4690F3A89}" presName="compNode" presStyleCnt="0"/>
      <dgm:spPr/>
    </dgm:pt>
    <dgm:pt modelId="{F05BDCD4-CBEE-46AB-8A38-C6B9D139FAAA}" type="pres">
      <dgm:prSet presAssocID="{CA080654-F263-458C-A387-C8E4690F3A89}" presName="iconBgRect" presStyleLbl="bgShp" presStyleIdx="0" presStyleCnt="5"/>
      <dgm:spPr/>
    </dgm:pt>
    <dgm:pt modelId="{77642CFD-6D5C-4475-B454-B696A50CA1F6}" type="pres">
      <dgm:prSet presAssocID="{CA080654-F263-458C-A387-C8E4690F3A8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ke"/>
        </a:ext>
      </dgm:extLst>
    </dgm:pt>
    <dgm:pt modelId="{51C04D1E-1B15-4727-BFDC-A66F962AF7EC}" type="pres">
      <dgm:prSet presAssocID="{CA080654-F263-458C-A387-C8E4690F3A89}" presName="spaceRect" presStyleCnt="0"/>
      <dgm:spPr/>
    </dgm:pt>
    <dgm:pt modelId="{4AFFF624-4821-413E-ABBA-9F8B733A8CD9}" type="pres">
      <dgm:prSet presAssocID="{CA080654-F263-458C-A387-C8E4690F3A89}" presName="textRect" presStyleLbl="revTx" presStyleIdx="0" presStyleCnt="5">
        <dgm:presLayoutVars>
          <dgm:chMax val="1"/>
          <dgm:chPref val="1"/>
        </dgm:presLayoutVars>
      </dgm:prSet>
      <dgm:spPr/>
    </dgm:pt>
    <dgm:pt modelId="{E22F0CCD-29FB-4554-8884-4212820D620E}" type="pres">
      <dgm:prSet presAssocID="{F4043240-252B-414B-9565-39F220145138}" presName="sibTrans" presStyleCnt="0"/>
      <dgm:spPr/>
    </dgm:pt>
    <dgm:pt modelId="{47329970-C60B-4BCD-AE54-BD16048DE952}" type="pres">
      <dgm:prSet presAssocID="{19415C88-DF9E-4FFE-8758-62F44276C5DA}" presName="compNode" presStyleCnt="0"/>
      <dgm:spPr/>
    </dgm:pt>
    <dgm:pt modelId="{5A8CFB19-5D2C-453A-913D-A3F06555BC7E}" type="pres">
      <dgm:prSet presAssocID="{19415C88-DF9E-4FFE-8758-62F44276C5DA}" presName="iconBgRect" presStyleLbl="bgShp" presStyleIdx="1" presStyleCnt="5"/>
      <dgm:spPr/>
    </dgm:pt>
    <dgm:pt modelId="{375BD039-C411-4877-A315-C436ECE23C8A}" type="pres">
      <dgm:prSet presAssocID="{19415C88-DF9E-4FFE-8758-62F44276C5D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unnel Chart"/>
        </a:ext>
      </dgm:extLst>
    </dgm:pt>
    <dgm:pt modelId="{F1D504AA-A2DC-43DE-8BA7-6339C0F36D64}" type="pres">
      <dgm:prSet presAssocID="{19415C88-DF9E-4FFE-8758-62F44276C5DA}" presName="spaceRect" presStyleCnt="0"/>
      <dgm:spPr/>
    </dgm:pt>
    <dgm:pt modelId="{18DC99E1-9744-45E0-B21C-50BF3039B2D9}" type="pres">
      <dgm:prSet presAssocID="{19415C88-DF9E-4FFE-8758-62F44276C5DA}" presName="textRect" presStyleLbl="revTx" presStyleIdx="1" presStyleCnt="5">
        <dgm:presLayoutVars>
          <dgm:chMax val="1"/>
          <dgm:chPref val="1"/>
        </dgm:presLayoutVars>
      </dgm:prSet>
      <dgm:spPr/>
    </dgm:pt>
    <dgm:pt modelId="{3C1C5E59-9221-4736-AD60-DEFFC67D4E1B}" type="pres">
      <dgm:prSet presAssocID="{90E7D544-78E5-46F6-B027-2DC5D29A36CD}" presName="sibTrans" presStyleCnt="0"/>
      <dgm:spPr/>
    </dgm:pt>
    <dgm:pt modelId="{B47590B1-4334-4BB6-8061-5A72DA912330}" type="pres">
      <dgm:prSet presAssocID="{5CCFEC5C-7CD0-4736-A47E-A334E731D2D1}" presName="compNode" presStyleCnt="0"/>
      <dgm:spPr/>
    </dgm:pt>
    <dgm:pt modelId="{6FD47CF2-7E49-4EB9-9156-F08C38D2E5CE}" type="pres">
      <dgm:prSet presAssocID="{5CCFEC5C-7CD0-4736-A47E-A334E731D2D1}" presName="iconBgRect" presStyleLbl="bgShp" presStyleIdx="2" presStyleCnt="5"/>
      <dgm:spPr/>
    </dgm:pt>
    <dgm:pt modelId="{A965492F-FA30-4599-9325-47317AD34BCD}" type="pres">
      <dgm:prSet presAssocID="{5CCFEC5C-7CD0-4736-A47E-A334E731D2D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figuration"/>
        </a:ext>
      </dgm:extLst>
    </dgm:pt>
    <dgm:pt modelId="{F3910014-D526-458A-8CE9-0D85944F3BB0}" type="pres">
      <dgm:prSet presAssocID="{5CCFEC5C-7CD0-4736-A47E-A334E731D2D1}" presName="spaceRect" presStyleCnt="0"/>
      <dgm:spPr/>
    </dgm:pt>
    <dgm:pt modelId="{C901381C-756B-46C1-A419-FF7CD8269B47}" type="pres">
      <dgm:prSet presAssocID="{5CCFEC5C-7CD0-4736-A47E-A334E731D2D1}" presName="textRect" presStyleLbl="revTx" presStyleIdx="2" presStyleCnt="5">
        <dgm:presLayoutVars>
          <dgm:chMax val="1"/>
          <dgm:chPref val="1"/>
        </dgm:presLayoutVars>
      </dgm:prSet>
      <dgm:spPr/>
    </dgm:pt>
    <dgm:pt modelId="{A298F7E7-C210-4E87-8F1C-8A5369915C2F}" type="pres">
      <dgm:prSet presAssocID="{8E4AEA06-0928-4B0A-994F-4219337B7EBA}" presName="sibTrans" presStyleCnt="0"/>
      <dgm:spPr/>
    </dgm:pt>
    <dgm:pt modelId="{24E55128-8EA5-46DE-ACEB-3CDC61D852C0}" type="pres">
      <dgm:prSet presAssocID="{F8A19936-63A0-4A9A-8F35-CFF440C77EE3}" presName="compNode" presStyleCnt="0"/>
      <dgm:spPr/>
    </dgm:pt>
    <dgm:pt modelId="{4E25B3D9-B8F8-4012-977A-45AD0E593B0C}" type="pres">
      <dgm:prSet presAssocID="{F8A19936-63A0-4A9A-8F35-CFF440C77EE3}" presName="iconBgRect" presStyleLbl="bgShp" presStyleIdx="3" presStyleCnt="5"/>
      <dgm:spPr/>
    </dgm:pt>
    <dgm:pt modelId="{DBBB8DF0-1F7E-456D-A8F6-2DE862134FA9}" type="pres">
      <dgm:prSet presAssocID="{F8A19936-63A0-4A9A-8F35-CFF440C77EE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naire"/>
        </a:ext>
      </dgm:extLst>
    </dgm:pt>
    <dgm:pt modelId="{76654433-E15F-4396-A276-D995382948AA}" type="pres">
      <dgm:prSet presAssocID="{F8A19936-63A0-4A9A-8F35-CFF440C77EE3}" presName="spaceRect" presStyleCnt="0"/>
      <dgm:spPr/>
    </dgm:pt>
    <dgm:pt modelId="{6BAFF5FF-3395-4DD5-B621-CB1A36318BD4}" type="pres">
      <dgm:prSet presAssocID="{F8A19936-63A0-4A9A-8F35-CFF440C77EE3}" presName="textRect" presStyleLbl="revTx" presStyleIdx="3" presStyleCnt="5">
        <dgm:presLayoutVars>
          <dgm:chMax val="1"/>
          <dgm:chPref val="1"/>
        </dgm:presLayoutVars>
      </dgm:prSet>
      <dgm:spPr/>
    </dgm:pt>
    <dgm:pt modelId="{D5A51927-B415-4376-B314-3FC0BE48E71A}" type="pres">
      <dgm:prSet presAssocID="{FBD8D448-F4BF-4B06-8E8C-17A0735C3C09}" presName="sibTrans" presStyleCnt="0"/>
      <dgm:spPr/>
    </dgm:pt>
    <dgm:pt modelId="{81A1D2B7-DE0D-401A-AF3D-316FDB72F229}" type="pres">
      <dgm:prSet presAssocID="{4B36CE74-E8BC-4F42-8349-C49DDC92169A}" presName="compNode" presStyleCnt="0"/>
      <dgm:spPr/>
    </dgm:pt>
    <dgm:pt modelId="{A6472463-9890-4C48-B247-08E9A861FE6D}" type="pres">
      <dgm:prSet presAssocID="{4B36CE74-E8BC-4F42-8349-C49DDC92169A}" presName="iconBgRect" presStyleLbl="bgShp" presStyleIdx="4" presStyleCnt="5"/>
      <dgm:spPr/>
    </dgm:pt>
    <dgm:pt modelId="{75D183DD-7549-4B15-B498-6E6DECA60CEC}" type="pres">
      <dgm:prSet presAssocID="{4B36CE74-E8BC-4F42-8349-C49DDC92169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
        </a:ext>
      </dgm:extLst>
    </dgm:pt>
    <dgm:pt modelId="{875BEFF7-99FB-45EC-90E1-D7FD45E44220}" type="pres">
      <dgm:prSet presAssocID="{4B36CE74-E8BC-4F42-8349-C49DDC92169A}" presName="spaceRect" presStyleCnt="0"/>
      <dgm:spPr/>
    </dgm:pt>
    <dgm:pt modelId="{5FDABBD9-43B6-4A67-A60A-A8F788FC8E2B}" type="pres">
      <dgm:prSet presAssocID="{4B36CE74-E8BC-4F42-8349-C49DDC92169A}" presName="textRect" presStyleLbl="revTx" presStyleIdx="4" presStyleCnt="5">
        <dgm:presLayoutVars>
          <dgm:chMax val="1"/>
          <dgm:chPref val="1"/>
        </dgm:presLayoutVars>
      </dgm:prSet>
      <dgm:spPr/>
    </dgm:pt>
  </dgm:ptLst>
  <dgm:cxnLst>
    <dgm:cxn modelId="{C08ED605-1250-432C-9F17-69414EF0A219}" srcId="{10DEA788-6EF4-4887-99F1-647438923681}" destId="{4B36CE74-E8BC-4F42-8349-C49DDC92169A}" srcOrd="4" destOrd="0" parTransId="{EE6711BD-BA51-4929-A713-FDC2926A2A7D}" sibTransId="{DC19B800-782B-448A-BCA9-F2FB704DE675}"/>
    <dgm:cxn modelId="{C039520E-2A91-44FE-AC91-0E70A4F17B4F}" srcId="{10DEA788-6EF4-4887-99F1-647438923681}" destId="{5CCFEC5C-7CD0-4736-A47E-A334E731D2D1}" srcOrd="2" destOrd="0" parTransId="{52CFDBE8-B842-4E38-9A8D-9517A1D7842E}" sibTransId="{8E4AEA06-0928-4B0A-994F-4219337B7EBA}"/>
    <dgm:cxn modelId="{320E451D-4129-4922-B0CC-B186C18A9F6B}" type="presOf" srcId="{4B36CE74-E8BC-4F42-8349-C49DDC92169A}" destId="{5FDABBD9-43B6-4A67-A60A-A8F788FC8E2B}" srcOrd="0" destOrd="0" presId="urn:microsoft.com/office/officeart/2018/5/layout/IconCircleLabelList"/>
    <dgm:cxn modelId="{5240F824-2D79-4FDF-B0FE-6810833F2175}" type="presOf" srcId="{19415C88-DF9E-4FFE-8758-62F44276C5DA}" destId="{18DC99E1-9744-45E0-B21C-50BF3039B2D9}" srcOrd="0" destOrd="0" presId="urn:microsoft.com/office/officeart/2018/5/layout/IconCircleLabelList"/>
    <dgm:cxn modelId="{19DAF13D-5BD7-462E-83AA-8C8A35449C5D}" srcId="{10DEA788-6EF4-4887-99F1-647438923681}" destId="{CA080654-F263-458C-A387-C8E4690F3A89}" srcOrd="0" destOrd="0" parTransId="{370CD657-43AF-4B7F-ABE1-2067BC062E9F}" sibTransId="{F4043240-252B-414B-9565-39F220145138}"/>
    <dgm:cxn modelId="{A79DEA81-9330-4A63-AAE2-EF913A52828C}" srcId="{10DEA788-6EF4-4887-99F1-647438923681}" destId="{19415C88-DF9E-4FFE-8758-62F44276C5DA}" srcOrd="1" destOrd="0" parTransId="{291C87CC-1250-4DD7-A359-98D9A9DBA483}" sibTransId="{90E7D544-78E5-46F6-B027-2DC5D29A36CD}"/>
    <dgm:cxn modelId="{5CD4049B-3651-4CEA-AC53-1CC0D72EDB00}" srcId="{10DEA788-6EF4-4887-99F1-647438923681}" destId="{F8A19936-63A0-4A9A-8F35-CFF440C77EE3}" srcOrd="3" destOrd="0" parTransId="{8A38CA0F-A682-4A10-B234-C7CAFB6527F3}" sibTransId="{FBD8D448-F4BF-4B06-8E8C-17A0735C3C09}"/>
    <dgm:cxn modelId="{39B528B9-2CE5-4372-A0FC-22F2245EEBBD}" type="presOf" srcId="{5CCFEC5C-7CD0-4736-A47E-A334E731D2D1}" destId="{C901381C-756B-46C1-A419-FF7CD8269B47}" srcOrd="0" destOrd="0" presId="urn:microsoft.com/office/officeart/2018/5/layout/IconCircleLabelList"/>
    <dgm:cxn modelId="{B06CACC7-D2BF-4E91-8F4C-F37A546716BC}" type="presOf" srcId="{10DEA788-6EF4-4887-99F1-647438923681}" destId="{8065032D-B38B-4075-9595-12B4A4A26BA3}" srcOrd="0" destOrd="0" presId="urn:microsoft.com/office/officeart/2018/5/layout/IconCircleLabelList"/>
    <dgm:cxn modelId="{F0F550CE-F3DE-485D-B473-D11DC355CB6B}" type="presOf" srcId="{F8A19936-63A0-4A9A-8F35-CFF440C77EE3}" destId="{6BAFF5FF-3395-4DD5-B621-CB1A36318BD4}" srcOrd="0" destOrd="0" presId="urn:microsoft.com/office/officeart/2018/5/layout/IconCircleLabelList"/>
    <dgm:cxn modelId="{5577C4F6-77AD-4B43-AA99-4B548C54F78E}" type="presOf" srcId="{CA080654-F263-458C-A387-C8E4690F3A89}" destId="{4AFFF624-4821-413E-ABBA-9F8B733A8CD9}" srcOrd="0" destOrd="0" presId="urn:microsoft.com/office/officeart/2018/5/layout/IconCircleLabelList"/>
    <dgm:cxn modelId="{157A78EB-4146-4E9F-9212-3891F8891FAE}" type="presParOf" srcId="{8065032D-B38B-4075-9595-12B4A4A26BA3}" destId="{5E781340-13D6-4B17-A678-9BD34B264B1A}" srcOrd="0" destOrd="0" presId="urn:microsoft.com/office/officeart/2018/5/layout/IconCircleLabelList"/>
    <dgm:cxn modelId="{5548CCB4-332B-4DAB-80E3-7E6B2B0508C8}" type="presParOf" srcId="{5E781340-13D6-4B17-A678-9BD34B264B1A}" destId="{F05BDCD4-CBEE-46AB-8A38-C6B9D139FAAA}" srcOrd="0" destOrd="0" presId="urn:microsoft.com/office/officeart/2018/5/layout/IconCircleLabelList"/>
    <dgm:cxn modelId="{E536DDA0-6F89-4C3B-9569-98EDF8CED139}" type="presParOf" srcId="{5E781340-13D6-4B17-A678-9BD34B264B1A}" destId="{77642CFD-6D5C-4475-B454-B696A50CA1F6}" srcOrd="1" destOrd="0" presId="urn:microsoft.com/office/officeart/2018/5/layout/IconCircleLabelList"/>
    <dgm:cxn modelId="{D8BB3575-5F3A-4B34-A3B3-94C55EBFDD9C}" type="presParOf" srcId="{5E781340-13D6-4B17-A678-9BD34B264B1A}" destId="{51C04D1E-1B15-4727-BFDC-A66F962AF7EC}" srcOrd="2" destOrd="0" presId="urn:microsoft.com/office/officeart/2018/5/layout/IconCircleLabelList"/>
    <dgm:cxn modelId="{02B848AF-56C5-4D9D-8A16-B27E6AD05353}" type="presParOf" srcId="{5E781340-13D6-4B17-A678-9BD34B264B1A}" destId="{4AFFF624-4821-413E-ABBA-9F8B733A8CD9}" srcOrd="3" destOrd="0" presId="urn:microsoft.com/office/officeart/2018/5/layout/IconCircleLabelList"/>
    <dgm:cxn modelId="{1E098D33-04CC-482D-8B84-5E3C8FDD05F8}" type="presParOf" srcId="{8065032D-B38B-4075-9595-12B4A4A26BA3}" destId="{E22F0CCD-29FB-4554-8884-4212820D620E}" srcOrd="1" destOrd="0" presId="urn:microsoft.com/office/officeart/2018/5/layout/IconCircleLabelList"/>
    <dgm:cxn modelId="{EECC988A-22EE-4770-869A-4787919368F8}" type="presParOf" srcId="{8065032D-B38B-4075-9595-12B4A4A26BA3}" destId="{47329970-C60B-4BCD-AE54-BD16048DE952}" srcOrd="2" destOrd="0" presId="urn:microsoft.com/office/officeart/2018/5/layout/IconCircleLabelList"/>
    <dgm:cxn modelId="{3A4DF740-FAE2-48E5-A963-440F8C6136D0}" type="presParOf" srcId="{47329970-C60B-4BCD-AE54-BD16048DE952}" destId="{5A8CFB19-5D2C-453A-913D-A3F06555BC7E}" srcOrd="0" destOrd="0" presId="urn:microsoft.com/office/officeart/2018/5/layout/IconCircleLabelList"/>
    <dgm:cxn modelId="{12B53DEC-E95D-415A-A099-ACA12375D8D7}" type="presParOf" srcId="{47329970-C60B-4BCD-AE54-BD16048DE952}" destId="{375BD039-C411-4877-A315-C436ECE23C8A}" srcOrd="1" destOrd="0" presId="urn:microsoft.com/office/officeart/2018/5/layout/IconCircleLabelList"/>
    <dgm:cxn modelId="{B659DA43-DD97-4901-BB11-FBD40F84E673}" type="presParOf" srcId="{47329970-C60B-4BCD-AE54-BD16048DE952}" destId="{F1D504AA-A2DC-43DE-8BA7-6339C0F36D64}" srcOrd="2" destOrd="0" presId="urn:microsoft.com/office/officeart/2018/5/layout/IconCircleLabelList"/>
    <dgm:cxn modelId="{A55B82F6-81CD-4FBB-B4BC-BC31E1F8682E}" type="presParOf" srcId="{47329970-C60B-4BCD-AE54-BD16048DE952}" destId="{18DC99E1-9744-45E0-B21C-50BF3039B2D9}" srcOrd="3" destOrd="0" presId="urn:microsoft.com/office/officeart/2018/5/layout/IconCircleLabelList"/>
    <dgm:cxn modelId="{176EB0F7-0C0B-4E44-B842-8C402106B005}" type="presParOf" srcId="{8065032D-B38B-4075-9595-12B4A4A26BA3}" destId="{3C1C5E59-9221-4736-AD60-DEFFC67D4E1B}" srcOrd="3" destOrd="0" presId="urn:microsoft.com/office/officeart/2018/5/layout/IconCircleLabelList"/>
    <dgm:cxn modelId="{7E5B83D9-743C-4EF3-B002-0D563616D638}" type="presParOf" srcId="{8065032D-B38B-4075-9595-12B4A4A26BA3}" destId="{B47590B1-4334-4BB6-8061-5A72DA912330}" srcOrd="4" destOrd="0" presId="urn:microsoft.com/office/officeart/2018/5/layout/IconCircleLabelList"/>
    <dgm:cxn modelId="{F8ED87C1-DA26-4D88-9A0E-5B37A1547B45}" type="presParOf" srcId="{B47590B1-4334-4BB6-8061-5A72DA912330}" destId="{6FD47CF2-7E49-4EB9-9156-F08C38D2E5CE}" srcOrd="0" destOrd="0" presId="urn:microsoft.com/office/officeart/2018/5/layout/IconCircleLabelList"/>
    <dgm:cxn modelId="{3311E12D-7E40-4140-A617-AF3F06A051F2}" type="presParOf" srcId="{B47590B1-4334-4BB6-8061-5A72DA912330}" destId="{A965492F-FA30-4599-9325-47317AD34BCD}" srcOrd="1" destOrd="0" presId="urn:microsoft.com/office/officeart/2018/5/layout/IconCircleLabelList"/>
    <dgm:cxn modelId="{04104379-FCC2-4D5D-88B5-67B28CFE484C}" type="presParOf" srcId="{B47590B1-4334-4BB6-8061-5A72DA912330}" destId="{F3910014-D526-458A-8CE9-0D85944F3BB0}" srcOrd="2" destOrd="0" presId="urn:microsoft.com/office/officeart/2018/5/layout/IconCircleLabelList"/>
    <dgm:cxn modelId="{3234D7BC-2616-48CC-991E-6CE6A2452B35}" type="presParOf" srcId="{B47590B1-4334-4BB6-8061-5A72DA912330}" destId="{C901381C-756B-46C1-A419-FF7CD8269B47}" srcOrd="3" destOrd="0" presId="urn:microsoft.com/office/officeart/2018/5/layout/IconCircleLabelList"/>
    <dgm:cxn modelId="{A9604A8B-B99B-4DE4-9F30-6DAE2F360694}" type="presParOf" srcId="{8065032D-B38B-4075-9595-12B4A4A26BA3}" destId="{A298F7E7-C210-4E87-8F1C-8A5369915C2F}" srcOrd="5" destOrd="0" presId="urn:microsoft.com/office/officeart/2018/5/layout/IconCircleLabelList"/>
    <dgm:cxn modelId="{2981F483-9454-4D6E-9657-826FAEC33F25}" type="presParOf" srcId="{8065032D-B38B-4075-9595-12B4A4A26BA3}" destId="{24E55128-8EA5-46DE-ACEB-3CDC61D852C0}" srcOrd="6" destOrd="0" presId="urn:microsoft.com/office/officeart/2018/5/layout/IconCircleLabelList"/>
    <dgm:cxn modelId="{4BA5EE96-834C-45C4-AE9D-7AE7A76B8810}" type="presParOf" srcId="{24E55128-8EA5-46DE-ACEB-3CDC61D852C0}" destId="{4E25B3D9-B8F8-4012-977A-45AD0E593B0C}" srcOrd="0" destOrd="0" presId="urn:microsoft.com/office/officeart/2018/5/layout/IconCircleLabelList"/>
    <dgm:cxn modelId="{B4B10E05-B0FB-44E0-A324-3320B823429A}" type="presParOf" srcId="{24E55128-8EA5-46DE-ACEB-3CDC61D852C0}" destId="{DBBB8DF0-1F7E-456D-A8F6-2DE862134FA9}" srcOrd="1" destOrd="0" presId="urn:microsoft.com/office/officeart/2018/5/layout/IconCircleLabelList"/>
    <dgm:cxn modelId="{4770A5BA-AD03-48EA-942D-42E559F027E5}" type="presParOf" srcId="{24E55128-8EA5-46DE-ACEB-3CDC61D852C0}" destId="{76654433-E15F-4396-A276-D995382948AA}" srcOrd="2" destOrd="0" presId="urn:microsoft.com/office/officeart/2018/5/layout/IconCircleLabelList"/>
    <dgm:cxn modelId="{1E426A58-C526-485C-AC2C-E265E0F51E0C}" type="presParOf" srcId="{24E55128-8EA5-46DE-ACEB-3CDC61D852C0}" destId="{6BAFF5FF-3395-4DD5-B621-CB1A36318BD4}" srcOrd="3" destOrd="0" presId="urn:microsoft.com/office/officeart/2018/5/layout/IconCircleLabelList"/>
    <dgm:cxn modelId="{E8E2F7E4-3CE6-4941-94C6-CBA521B9A738}" type="presParOf" srcId="{8065032D-B38B-4075-9595-12B4A4A26BA3}" destId="{D5A51927-B415-4376-B314-3FC0BE48E71A}" srcOrd="7" destOrd="0" presId="urn:microsoft.com/office/officeart/2018/5/layout/IconCircleLabelList"/>
    <dgm:cxn modelId="{548A8DDA-F940-46EA-9867-A3587539CC45}" type="presParOf" srcId="{8065032D-B38B-4075-9595-12B4A4A26BA3}" destId="{81A1D2B7-DE0D-401A-AF3D-316FDB72F229}" srcOrd="8" destOrd="0" presId="urn:microsoft.com/office/officeart/2018/5/layout/IconCircleLabelList"/>
    <dgm:cxn modelId="{05FCC581-6F37-46A1-BCD4-B3B7E72C83A0}" type="presParOf" srcId="{81A1D2B7-DE0D-401A-AF3D-316FDB72F229}" destId="{A6472463-9890-4C48-B247-08E9A861FE6D}" srcOrd="0" destOrd="0" presId="urn:microsoft.com/office/officeart/2018/5/layout/IconCircleLabelList"/>
    <dgm:cxn modelId="{4019C5AC-893D-4C67-9B2C-9FCE9BA08D32}" type="presParOf" srcId="{81A1D2B7-DE0D-401A-AF3D-316FDB72F229}" destId="{75D183DD-7549-4B15-B498-6E6DECA60CEC}" srcOrd="1" destOrd="0" presId="urn:microsoft.com/office/officeart/2018/5/layout/IconCircleLabelList"/>
    <dgm:cxn modelId="{6854E9F6-C943-460D-8E1E-1C06244E87C5}" type="presParOf" srcId="{81A1D2B7-DE0D-401A-AF3D-316FDB72F229}" destId="{875BEFF7-99FB-45EC-90E1-D7FD45E44220}" srcOrd="2" destOrd="0" presId="urn:microsoft.com/office/officeart/2018/5/layout/IconCircleLabelList"/>
    <dgm:cxn modelId="{0975240F-2563-4FEE-B774-66000ABBC723}" type="presParOf" srcId="{81A1D2B7-DE0D-401A-AF3D-316FDB72F229}" destId="{5FDABBD9-43B6-4A67-A60A-A8F788FC8E2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85D869-D7BA-4B3F-A1BB-15C43895BAE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4DAC603-1D2C-472E-8A3A-0FA78A8A60C6}" type="pres">
      <dgm:prSet presAssocID="{9E85D869-D7BA-4B3F-A1BB-15C43895BAE6}" presName="root" presStyleCnt="0">
        <dgm:presLayoutVars>
          <dgm:dir/>
          <dgm:resizeHandles val="exact"/>
        </dgm:presLayoutVars>
      </dgm:prSet>
      <dgm:spPr/>
    </dgm:pt>
  </dgm:ptLst>
  <dgm:cxnLst>
    <dgm:cxn modelId="{9DA06814-EDD0-43A5-AA8E-A947E11E7F23}" type="presOf" srcId="{9E85D869-D7BA-4B3F-A1BB-15C43895BAE6}" destId="{24DAC603-1D2C-472E-8A3A-0FA78A8A60C6}" srcOrd="0" destOrd="0" presId="urn:microsoft.com/office/officeart/2018/2/layout/IconLabel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BDCD4-CBEE-46AB-8A38-C6B9D139FAAA}">
      <dsp:nvSpPr>
        <dsp:cNvPr id="0" name=""/>
        <dsp:cNvSpPr/>
      </dsp:nvSpPr>
      <dsp:spPr>
        <a:xfrm>
          <a:off x="684914" y="1016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642CFD-6D5C-4475-B454-B696A50CA1F6}">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FFF624-4821-413E-ABBA-9F8B733A8CD9}">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latin typeface="Aptos Display" panose="02110004020202020204"/>
            </a:rPr>
            <a:t>introduction</a:t>
          </a:r>
          <a:endParaRPr lang="en-US" sz="2000" kern="1200"/>
        </a:p>
      </dsp:txBody>
      <dsp:txXfrm>
        <a:off x="333914" y="2456402"/>
        <a:ext cx="1800000" cy="720000"/>
      </dsp:txXfrm>
    </dsp:sp>
    <dsp:sp modelId="{5A8CFB19-5D2C-453A-913D-A3F06555BC7E}">
      <dsp:nvSpPr>
        <dsp:cNvPr id="0" name=""/>
        <dsp:cNvSpPr/>
      </dsp:nvSpPr>
      <dsp:spPr>
        <a:xfrm>
          <a:off x="2799914" y="1016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5BD039-C411-4877-A315-C436ECE23C8A}">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8DC99E1-9744-45E0-B21C-50BF3039B2D9}">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latin typeface="Aptos Display" panose="02110004020202020204"/>
            </a:rPr>
            <a:t>Exploratory Data Analysis</a:t>
          </a:r>
          <a:endParaRPr lang="en-US" sz="2000" kern="1200"/>
        </a:p>
      </dsp:txBody>
      <dsp:txXfrm>
        <a:off x="2448914" y="2456402"/>
        <a:ext cx="1800000" cy="720000"/>
      </dsp:txXfrm>
    </dsp:sp>
    <dsp:sp modelId="{6FD47CF2-7E49-4EB9-9156-F08C38D2E5CE}">
      <dsp:nvSpPr>
        <dsp:cNvPr id="0" name=""/>
        <dsp:cNvSpPr/>
      </dsp:nvSpPr>
      <dsp:spPr>
        <a:xfrm>
          <a:off x="4914914" y="1016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65492F-FA30-4599-9325-47317AD34BCD}">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901381C-756B-46C1-A419-FF7CD8269B47}">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latin typeface="Aptos Display" panose="02110004020202020204"/>
            </a:rPr>
            <a:t>Approach and models</a:t>
          </a:r>
          <a:endParaRPr lang="en-US" sz="2000" kern="1200"/>
        </a:p>
      </dsp:txBody>
      <dsp:txXfrm>
        <a:off x="4563914" y="2456402"/>
        <a:ext cx="1800000" cy="720000"/>
      </dsp:txXfrm>
    </dsp:sp>
    <dsp:sp modelId="{4E25B3D9-B8F8-4012-977A-45AD0E593B0C}">
      <dsp:nvSpPr>
        <dsp:cNvPr id="0" name=""/>
        <dsp:cNvSpPr/>
      </dsp:nvSpPr>
      <dsp:spPr>
        <a:xfrm>
          <a:off x="7029914" y="1016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BB8DF0-1F7E-456D-A8F6-2DE862134FA9}">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AFF5FF-3395-4DD5-B621-CB1A36318BD4}">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latin typeface="Aptos Display" panose="02110004020202020204"/>
            </a:rPr>
            <a:t>Results</a:t>
          </a:r>
          <a:endParaRPr lang="en-US" sz="2000" kern="1200"/>
        </a:p>
      </dsp:txBody>
      <dsp:txXfrm>
        <a:off x="6678914" y="2456402"/>
        <a:ext cx="1800000" cy="720000"/>
      </dsp:txXfrm>
    </dsp:sp>
    <dsp:sp modelId="{A6472463-9890-4C48-B247-08E9A861FE6D}">
      <dsp:nvSpPr>
        <dsp:cNvPr id="0" name=""/>
        <dsp:cNvSpPr/>
      </dsp:nvSpPr>
      <dsp:spPr>
        <a:xfrm>
          <a:off x="9144914" y="1016402"/>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D183DD-7549-4B15-B498-6E6DECA60CEC}">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FDABBD9-43B6-4A67-A60A-A8F788FC8E2B}">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latin typeface="Aptos Display" panose="02110004020202020204"/>
            </a:rPr>
            <a:t>Conclusion</a:t>
          </a:r>
          <a:endParaRPr lang="en-US" sz="2000" kern="1200"/>
        </a:p>
      </dsp:txBody>
      <dsp:txXfrm>
        <a:off x="8793914" y="2456402"/>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3082986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4151697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884784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B6AC0F-BCBE-456D-AB1B-B64622C3CEB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170582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5B6AC0F-BCBE-456D-AB1B-B64622C3CEBD}" type="datetimeFigureOut">
              <a:rPr lang="en-US" smtClean="0"/>
              <a:t>4/23/2024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371664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443857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3738219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4078051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B6AC0F-BCBE-456D-AB1B-B64622C3CEB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2934699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B6AC0F-BCBE-456D-AB1B-B64622C3CEB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299083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2918454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04112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1975668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675396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60716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3751394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B6AC0F-BCBE-456D-AB1B-B64622C3CEB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399B12-0826-4E7C-B4A7-2660A9F3FCF9}" type="slidenum">
              <a:rPr lang="en-US" smtClean="0"/>
              <a:t>‹#›</a:t>
            </a:fld>
            <a:endParaRPr lang="en-US"/>
          </a:p>
        </p:txBody>
      </p:sp>
    </p:spTree>
    <p:extLst>
      <p:ext uri="{BB962C8B-B14F-4D97-AF65-F5344CB8AC3E}">
        <p14:creationId xmlns:p14="http://schemas.microsoft.com/office/powerpoint/2010/main" val="187132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B6AC0F-BCBE-456D-AB1B-B64622C3CEBD}" type="datetimeFigureOut">
              <a:rPr lang="en-US" smtClean="0"/>
              <a:t>4/23/2024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B399B12-0826-4E7C-B4A7-2660A9F3FCF9}" type="slidenum">
              <a:rPr lang="en-US" smtClean="0"/>
              <a:t>‹#›</a:t>
            </a:fld>
            <a:endParaRPr lang="en-US"/>
          </a:p>
        </p:txBody>
      </p:sp>
    </p:spTree>
    <p:extLst>
      <p:ext uri="{BB962C8B-B14F-4D97-AF65-F5344CB8AC3E}">
        <p14:creationId xmlns:p14="http://schemas.microsoft.com/office/powerpoint/2010/main" val="139130585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2.xml"/><Relationship Id="rId7" Type="http://schemas.openxmlformats.org/officeDocument/2006/relationships/image" Target="../media/image16.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eeexplore.ieee.org/document/9376144/references#references" TargetMode="External"/><Relationship Id="rId2" Type="http://schemas.openxmlformats.org/officeDocument/2006/relationships/hyperlink" Target="https://7t.co/blog/3-ways-predictive-analytics-" TargetMode="External"/><Relationship Id="rId1" Type="http://schemas.openxmlformats.org/officeDocument/2006/relationships/slideLayout" Target="../slideLayouts/slideLayout2.xml"/><Relationship Id="rId4" Type="http://schemas.openxmlformats.org/officeDocument/2006/relationships/hyperlink" Target="https://www.mdpi.com/2673-5768/3/3/4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0D9FE-7ADF-094A-BE37-7C09D6536A5F}"/>
              </a:ext>
            </a:extLst>
          </p:cNvPr>
          <p:cNvSpPr>
            <a:spLocks noGrp="1"/>
          </p:cNvSpPr>
          <p:nvPr>
            <p:ph type="title"/>
          </p:nvPr>
        </p:nvSpPr>
        <p:spPr>
          <a:xfrm>
            <a:off x="1057101" y="1825476"/>
            <a:ext cx="10515600" cy="1603524"/>
          </a:xfrm>
        </p:spPr>
        <p:txBody>
          <a:bodyPr>
            <a:normAutofit/>
          </a:bodyPr>
          <a:lstStyle/>
          <a:p>
            <a:pPr algn="ctr"/>
            <a:r>
              <a:rPr lang="en-US" sz="3200">
                <a:latin typeface="Calibri"/>
                <a:ea typeface="+mj-lt"/>
                <a:cs typeface="+mj-lt"/>
              </a:rPr>
              <a:t>Harnessing Real-Time Predictive Analytics to Optimize Booking Experiences on </a:t>
            </a:r>
            <a:r>
              <a:rPr lang="en-US" sz="3200" err="1">
                <a:latin typeface="Calibri"/>
                <a:ea typeface="+mj-lt"/>
                <a:cs typeface="+mj-lt"/>
              </a:rPr>
              <a:t>AirBnB</a:t>
            </a:r>
            <a:r>
              <a:rPr lang="en-US" sz="3200">
                <a:latin typeface="Calibri"/>
                <a:ea typeface="+mj-lt"/>
                <a:cs typeface="+mj-lt"/>
              </a:rPr>
              <a:t>, Austin </a:t>
            </a:r>
            <a:endParaRPr lang="en-US" sz="3200">
              <a:latin typeface="Calibri"/>
              <a:cs typeface="Calibri"/>
            </a:endParaRPr>
          </a:p>
          <a:p>
            <a:endParaRPr lang="en-US" sz="3200">
              <a:latin typeface="Calibri"/>
              <a:cs typeface="Calibri"/>
            </a:endParaRPr>
          </a:p>
        </p:txBody>
      </p:sp>
      <p:sp>
        <p:nvSpPr>
          <p:cNvPr id="7" name="TextBox 6">
            <a:extLst>
              <a:ext uri="{FF2B5EF4-FFF2-40B4-BE49-F238E27FC236}">
                <a16:creationId xmlns:a16="http://schemas.microsoft.com/office/drawing/2014/main" id="{543F1E0A-4DC5-F334-65C0-CD6E8C910D5C}"/>
              </a:ext>
            </a:extLst>
          </p:cNvPr>
          <p:cNvSpPr txBox="1"/>
          <p:nvPr/>
        </p:nvSpPr>
        <p:spPr>
          <a:xfrm>
            <a:off x="1343526" y="4150894"/>
            <a:ext cx="476710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ct val="0"/>
              </a:spcBef>
            </a:pPr>
            <a:r>
              <a:rPr lang="en-US" sz="2000">
                <a:ea typeface="+mn-lt"/>
                <a:cs typeface="+mn-lt"/>
              </a:rPr>
              <a:t>Dr. Lindi Liao                               </a:t>
            </a:r>
            <a:endParaRPr lang="en-US" sz="2000"/>
          </a:p>
          <a:p>
            <a:pPr>
              <a:lnSpc>
                <a:spcPct val="90000"/>
              </a:lnSpc>
              <a:spcBef>
                <a:spcPct val="0"/>
              </a:spcBef>
            </a:pPr>
            <a:r>
              <a:rPr lang="en-US" sz="2000">
                <a:ea typeface="+mn-lt"/>
                <a:cs typeface="+mn-lt"/>
              </a:rPr>
              <a:t>AIT 614: Big Data Essentials                   George Mason University       </a:t>
            </a:r>
          </a:p>
          <a:p>
            <a:pPr>
              <a:lnSpc>
                <a:spcPct val="90000"/>
              </a:lnSpc>
              <a:spcBef>
                <a:spcPct val="0"/>
              </a:spcBef>
            </a:pPr>
            <a:r>
              <a:rPr lang="en-US" sz="2000">
                <a:ea typeface="+mn-lt"/>
                <a:cs typeface="+mn-lt"/>
              </a:rPr>
              <a:t>April 16th, 2024 </a:t>
            </a:r>
            <a:endParaRPr lang="en-US" sz="2000"/>
          </a:p>
        </p:txBody>
      </p:sp>
      <p:sp>
        <p:nvSpPr>
          <p:cNvPr id="8" name="TextBox 7">
            <a:extLst>
              <a:ext uri="{FF2B5EF4-FFF2-40B4-BE49-F238E27FC236}">
                <a16:creationId xmlns:a16="http://schemas.microsoft.com/office/drawing/2014/main" id="{8A0FF4FC-B394-ECDB-433C-835B5C626925}"/>
              </a:ext>
            </a:extLst>
          </p:cNvPr>
          <p:cNvSpPr txBox="1"/>
          <p:nvPr/>
        </p:nvSpPr>
        <p:spPr>
          <a:xfrm>
            <a:off x="8564807" y="3916883"/>
            <a:ext cx="300789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By Team 5:</a:t>
            </a:r>
          </a:p>
          <a:p>
            <a:endParaRPr lang="en-US"/>
          </a:p>
          <a:p>
            <a:r>
              <a:rPr lang="en-US"/>
              <a:t> </a:t>
            </a:r>
            <a:r>
              <a:rPr lang="en-US" err="1"/>
              <a:t>Vaeshnavi</a:t>
            </a:r>
            <a:r>
              <a:rPr lang="en-US"/>
              <a:t> Reddy </a:t>
            </a:r>
            <a:r>
              <a:rPr lang="en-US" err="1"/>
              <a:t>Alla</a:t>
            </a:r>
            <a:endParaRPr lang="en-US"/>
          </a:p>
          <a:p>
            <a:r>
              <a:rPr lang="en-US"/>
              <a:t> Bhargava Devarakonda</a:t>
            </a:r>
          </a:p>
          <a:p>
            <a:r>
              <a:rPr lang="en-US"/>
              <a:t> Dheeraj Akash </a:t>
            </a:r>
            <a:r>
              <a:rPr lang="en-US" err="1"/>
              <a:t>Dokuparthy</a:t>
            </a:r>
            <a:endParaRPr lang="en-US"/>
          </a:p>
          <a:p>
            <a:r>
              <a:rPr lang="en-US"/>
              <a:t> Satya Sai Karri</a:t>
            </a:r>
          </a:p>
          <a:p>
            <a:r>
              <a:rPr lang="en-US"/>
              <a:t> Varsha </a:t>
            </a:r>
            <a:r>
              <a:rPr lang="en-US" err="1"/>
              <a:t>Monala</a:t>
            </a:r>
            <a:endParaRPr lang="en-US"/>
          </a:p>
          <a:p>
            <a:endParaRPr lang="en-US"/>
          </a:p>
        </p:txBody>
      </p:sp>
    </p:spTree>
    <p:extLst>
      <p:ext uri="{BB962C8B-B14F-4D97-AF65-F5344CB8AC3E}">
        <p14:creationId xmlns:p14="http://schemas.microsoft.com/office/powerpoint/2010/main" val="3311463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D77FE-6AE8-F01D-3A3E-96327B86CE0E}"/>
              </a:ext>
            </a:extLst>
          </p:cNvPr>
          <p:cNvSpPr>
            <a:spLocks noGrp="1"/>
          </p:cNvSpPr>
          <p:nvPr>
            <p:ph type="title"/>
          </p:nvPr>
        </p:nvSpPr>
        <p:spPr>
          <a:xfrm>
            <a:off x="720087" y="1147934"/>
            <a:ext cx="10044023" cy="877729"/>
          </a:xfrm>
        </p:spPr>
        <p:txBody>
          <a:bodyPr anchor="ctr">
            <a:normAutofit/>
          </a:bodyPr>
          <a:lstStyle/>
          <a:p>
            <a:r>
              <a:rPr lang="en-US" sz="4000">
                <a:solidFill>
                  <a:srgbClr val="FFFFFF"/>
                </a:solidFill>
              </a:rPr>
              <a:t>Contents</a:t>
            </a:r>
          </a:p>
        </p:txBody>
      </p:sp>
      <p:graphicFrame>
        <p:nvGraphicFramePr>
          <p:cNvPr id="5" name="Diagram 4">
            <a:extLst>
              <a:ext uri="{FF2B5EF4-FFF2-40B4-BE49-F238E27FC236}">
                <a16:creationId xmlns:a16="http://schemas.microsoft.com/office/drawing/2014/main" id="{57A45F8F-1B27-449B-EDBC-2FB8EC323216}"/>
              </a:ext>
            </a:extLst>
          </p:cNvPr>
          <p:cNvGraphicFramePr/>
          <p:nvPr>
            <p:extLst>
              <p:ext uri="{D42A27DB-BD31-4B8C-83A1-F6EECF244321}">
                <p14:modId xmlns:p14="http://schemas.microsoft.com/office/powerpoint/2010/main" val="2632695466"/>
              </p:ext>
            </p:extLst>
          </p:nvPr>
        </p:nvGraphicFramePr>
        <p:xfrm>
          <a:off x="632085" y="158679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974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BD839-9E80-5634-4EA8-6D808C4C4898}"/>
              </a:ext>
            </a:extLst>
          </p:cNvPr>
          <p:cNvSpPr>
            <a:spLocks noGrp="1"/>
          </p:cNvSpPr>
          <p:nvPr>
            <p:ph type="title"/>
          </p:nvPr>
        </p:nvSpPr>
        <p:spPr>
          <a:xfrm>
            <a:off x="644056" y="303145"/>
            <a:ext cx="10044023" cy="877729"/>
          </a:xfrm>
        </p:spPr>
        <p:txBody>
          <a:bodyPr anchor="ctr">
            <a:normAutofit/>
          </a:bodyPr>
          <a:lstStyle/>
          <a:p>
            <a:r>
              <a:rPr lang="en-US" sz="4000">
                <a:solidFill>
                  <a:srgbClr val="FFFFFF"/>
                </a:solidFill>
                <a:latin typeface="Calibri"/>
                <a:cs typeface="Calibri"/>
              </a:rPr>
              <a:t>Introduction</a:t>
            </a:r>
          </a:p>
        </p:txBody>
      </p:sp>
      <p:graphicFrame>
        <p:nvGraphicFramePr>
          <p:cNvPr id="30" name="Content Placeholder 2">
            <a:extLst>
              <a:ext uri="{FF2B5EF4-FFF2-40B4-BE49-F238E27FC236}">
                <a16:creationId xmlns:a16="http://schemas.microsoft.com/office/drawing/2014/main" id="{CD55CB18-81B5-C15B-2F03-0669B5D898BE}"/>
              </a:ext>
            </a:extLst>
          </p:cNvPr>
          <p:cNvGraphicFramePr>
            <a:graphicFrameLocks noGrp="1"/>
          </p:cNvGraphicFramePr>
          <p:nvPr>
            <p:ph idx="1"/>
            <p:extLst>
              <p:ext uri="{D42A27DB-BD31-4B8C-83A1-F6EECF244321}">
                <p14:modId xmlns:p14="http://schemas.microsoft.com/office/powerpoint/2010/main" val="56995332"/>
              </p:ext>
            </p:extLst>
          </p:nvPr>
        </p:nvGraphicFramePr>
        <p:xfrm>
          <a:off x="644056" y="1051560"/>
          <a:ext cx="11208854" cy="5253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EE3563B0-C9D7-7903-8FBE-5FB7000BE4D8}"/>
              </a:ext>
            </a:extLst>
          </p:cNvPr>
          <p:cNvSpPr txBox="1"/>
          <p:nvPr/>
        </p:nvSpPr>
        <p:spPr>
          <a:xfrm>
            <a:off x="3291840" y="1360170"/>
            <a:ext cx="7955280" cy="1200329"/>
          </a:xfrm>
          <a:prstGeom prst="rect">
            <a:avLst/>
          </a:prstGeom>
          <a:noFill/>
        </p:spPr>
        <p:txBody>
          <a:bodyPr wrap="square" rtlCol="0">
            <a:spAutoFit/>
          </a:bodyPr>
          <a:lstStyle/>
          <a:p>
            <a:r>
              <a:rPr lang="en-US" sz="1800"/>
              <a:t>Airbnb has become a prominent player in the sharing economy, revolutionizing tourism, and local exploration with its shared home offerings.</a:t>
            </a:r>
          </a:p>
          <a:p>
            <a:endParaRPr lang="en-IN"/>
          </a:p>
        </p:txBody>
      </p:sp>
      <p:pic>
        <p:nvPicPr>
          <p:cNvPr id="5" name="Picture 4">
            <a:extLst>
              <a:ext uri="{FF2B5EF4-FFF2-40B4-BE49-F238E27FC236}">
                <a16:creationId xmlns:a16="http://schemas.microsoft.com/office/drawing/2014/main" id="{5C982CE5-80D9-5228-EB84-BDB1066A52E9}"/>
              </a:ext>
            </a:extLst>
          </p:cNvPr>
          <p:cNvPicPr>
            <a:picLocks noChangeAspect="1"/>
          </p:cNvPicPr>
          <p:nvPr/>
        </p:nvPicPr>
        <p:blipFill>
          <a:blip r:embed="rId7"/>
          <a:stretch>
            <a:fillRect/>
          </a:stretch>
        </p:blipFill>
        <p:spPr>
          <a:xfrm>
            <a:off x="1428405" y="1180874"/>
            <a:ext cx="1079086" cy="1079086"/>
          </a:xfrm>
          <a:prstGeom prst="rect">
            <a:avLst/>
          </a:prstGeom>
        </p:spPr>
      </p:pic>
      <p:pic>
        <p:nvPicPr>
          <p:cNvPr id="11" name="Picture 10">
            <a:extLst>
              <a:ext uri="{FF2B5EF4-FFF2-40B4-BE49-F238E27FC236}">
                <a16:creationId xmlns:a16="http://schemas.microsoft.com/office/drawing/2014/main" id="{898BD465-B4AA-5D87-05F2-CAC8D11CA2E0}"/>
              </a:ext>
            </a:extLst>
          </p:cNvPr>
          <p:cNvPicPr>
            <a:picLocks noChangeAspect="1"/>
          </p:cNvPicPr>
          <p:nvPr/>
        </p:nvPicPr>
        <p:blipFill rotWithShape="1">
          <a:blip r:embed="rId8"/>
          <a:srcRect l="-17501" t="-6144" r="17501" b="6144"/>
          <a:stretch/>
        </p:blipFill>
        <p:spPr>
          <a:xfrm>
            <a:off x="2282687" y="2793787"/>
            <a:ext cx="1274175" cy="1274175"/>
          </a:xfrm>
          <a:prstGeom prst="rect">
            <a:avLst/>
          </a:prstGeom>
        </p:spPr>
      </p:pic>
      <p:sp>
        <p:nvSpPr>
          <p:cNvPr id="12" name="TextBox 11">
            <a:extLst>
              <a:ext uri="{FF2B5EF4-FFF2-40B4-BE49-F238E27FC236}">
                <a16:creationId xmlns:a16="http://schemas.microsoft.com/office/drawing/2014/main" id="{42E72D92-9B78-2522-EA94-E437591356F9}"/>
              </a:ext>
            </a:extLst>
          </p:cNvPr>
          <p:cNvSpPr txBox="1"/>
          <p:nvPr/>
        </p:nvSpPr>
        <p:spPr>
          <a:xfrm>
            <a:off x="4194809" y="2629033"/>
            <a:ext cx="7471755" cy="1754326"/>
          </a:xfrm>
          <a:prstGeom prst="rect">
            <a:avLst/>
          </a:prstGeom>
          <a:noFill/>
        </p:spPr>
        <p:txBody>
          <a:bodyPr wrap="square" rtlCol="0">
            <a:spAutoFit/>
          </a:bodyPr>
          <a:lstStyle/>
          <a:p>
            <a:pPr lvl="0">
              <a:lnSpc>
                <a:spcPct val="100000"/>
              </a:lnSpc>
            </a:pPr>
            <a:r>
              <a:rPr lang="en-US" sz="1800"/>
              <a:t>Finding the right lodging for guests is the key to Airbnb's success, which calls for real-time booking trend prediction. This study aims to predict the probability of a real-time reservation of a listing. Airbnb's sales staff might utilize this information to provide customers with a more personalized and effective booking experience.</a:t>
            </a:r>
          </a:p>
        </p:txBody>
      </p:sp>
      <p:pic>
        <p:nvPicPr>
          <p:cNvPr id="14" name="Picture 13">
            <a:extLst>
              <a:ext uri="{FF2B5EF4-FFF2-40B4-BE49-F238E27FC236}">
                <a16:creationId xmlns:a16="http://schemas.microsoft.com/office/drawing/2014/main" id="{BC60948F-5361-D6C5-0B48-33F4F6B714E3}"/>
              </a:ext>
            </a:extLst>
          </p:cNvPr>
          <p:cNvPicPr>
            <a:picLocks noChangeAspect="1"/>
          </p:cNvPicPr>
          <p:nvPr/>
        </p:nvPicPr>
        <p:blipFill>
          <a:blip r:embed="rId9"/>
          <a:stretch>
            <a:fillRect/>
          </a:stretch>
        </p:blipFill>
        <p:spPr>
          <a:xfrm>
            <a:off x="1428405" y="4969651"/>
            <a:ext cx="1298067" cy="1281531"/>
          </a:xfrm>
          <a:prstGeom prst="rect">
            <a:avLst/>
          </a:prstGeom>
        </p:spPr>
      </p:pic>
      <p:sp>
        <p:nvSpPr>
          <p:cNvPr id="15" name="TextBox 14">
            <a:extLst>
              <a:ext uri="{FF2B5EF4-FFF2-40B4-BE49-F238E27FC236}">
                <a16:creationId xmlns:a16="http://schemas.microsoft.com/office/drawing/2014/main" id="{77138A47-FA20-044A-B4CF-3364B9D3F04D}"/>
              </a:ext>
            </a:extLst>
          </p:cNvPr>
          <p:cNvSpPr txBox="1"/>
          <p:nvPr/>
        </p:nvSpPr>
        <p:spPr>
          <a:xfrm>
            <a:off x="3291839" y="4859669"/>
            <a:ext cx="7471755" cy="1785104"/>
          </a:xfrm>
          <a:prstGeom prst="rect">
            <a:avLst/>
          </a:prstGeom>
          <a:noFill/>
        </p:spPr>
        <p:txBody>
          <a:bodyPr wrap="square" lIns="91440" tIns="45720" rIns="91440" bIns="45720" rtlCol="0" anchor="t">
            <a:spAutoFit/>
          </a:bodyPr>
          <a:lstStyle/>
          <a:p>
            <a:r>
              <a:rPr lang="en-US" sz="2000" b="1"/>
              <a:t>Difference of solution from others:</a:t>
            </a:r>
            <a:r>
              <a:rPr lang="en-US" sz="2000" b="1">
                <a:latin typeface="Aptos Display" panose="02110004020202020204"/>
              </a:rPr>
              <a:t> </a:t>
            </a:r>
            <a:endParaRPr lang="en-US">
              <a:latin typeface="Aptos Display" panose="02110004020202020204"/>
            </a:endParaRPr>
          </a:p>
          <a:p>
            <a:pPr lvl="0">
              <a:lnSpc>
                <a:spcPct val="100000"/>
              </a:lnSpc>
            </a:pPr>
            <a:r>
              <a:rPr lang="en-US" sz="1800">
                <a:latin typeface="Century Gothic"/>
              </a:rPr>
              <a:t>We plan to use several models for predicting the probability of booking a listing. Also, we used the whole dataset instead of reducing it, used feature engineering for accurate predicting models</a:t>
            </a:r>
            <a:r>
              <a:rPr lang="en-US">
                <a:latin typeface="Century Gothic"/>
              </a:rPr>
              <a:t>.</a:t>
            </a:r>
            <a:endParaRPr lang="en-US" sz="1800">
              <a:latin typeface="Century Gothic"/>
            </a:endParaRPr>
          </a:p>
          <a:p>
            <a:endParaRPr lang="en-IN"/>
          </a:p>
        </p:txBody>
      </p:sp>
    </p:spTree>
    <p:extLst>
      <p:ext uri="{BB962C8B-B14F-4D97-AF65-F5344CB8AC3E}">
        <p14:creationId xmlns:p14="http://schemas.microsoft.com/office/powerpoint/2010/main" val="187888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D069F-7BAC-D963-1623-753E66EE2CB5}"/>
              </a:ext>
            </a:extLst>
          </p:cNvPr>
          <p:cNvSpPr>
            <a:spLocks noGrp="1"/>
          </p:cNvSpPr>
          <p:nvPr>
            <p:ph type="title"/>
          </p:nvPr>
        </p:nvSpPr>
        <p:spPr>
          <a:xfrm>
            <a:off x="761803" y="350196"/>
            <a:ext cx="4646904" cy="1624520"/>
          </a:xfrm>
        </p:spPr>
        <p:txBody>
          <a:bodyPr anchor="ctr">
            <a:normAutofit/>
          </a:bodyPr>
          <a:lstStyle/>
          <a:p>
            <a:r>
              <a:rPr lang="en-US" sz="4000">
                <a:latin typeface="Calibri"/>
                <a:cs typeface="Calibri"/>
              </a:rPr>
              <a:t>Objective</a:t>
            </a:r>
          </a:p>
        </p:txBody>
      </p:sp>
      <p:sp>
        <p:nvSpPr>
          <p:cNvPr id="3" name="Content Placeholder 2">
            <a:extLst>
              <a:ext uri="{FF2B5EF4-FFF2-40B4-BE49-F238E27FC236}">
                <a16:creationId xmlns:a16="http://schemas.microsoft.com/office/drawing/2014/main" id="{CFC71E59-DACF-D68F-8982-5173BE038DE1}"/>
              </a:ext>
            </a:extLst>
          </p:cNvPr>
          <p:cNvSpPr>
            <a:spLocks noGrp="1"/>
          </p:cNvSpPr>
          <p:nvPr>
            <p:ph idx="1"/>
          </p:nvPr>
        </p:nvSpPr>
        <p:spPr>
          <a:xfrm>
            <a:off x="761802" y="1783080"/>
            <a:ext cx="4646905" cy="3613149"/>
          </a:xfrm>
        </p:spPr>
        <p:txBody>
          <a:bodyPr vert="horz" lIns="91440" tIns="45720" rIns="91440" bIns="45720" rtlCol="0" anchor="ctr">
            <a:normAutofit/>
          </a:bodyPr>
          <a:lstStyle/>
          <a:p>
            <a:r>
              <a:rPr lang="en-US" sz="2000">
                <a:latin typeface="Calibri"/>
                <a:ea typeface="+mn-lt"/>
                <a:cs typeface="+mn-lt"/>
              </a:rPr>
              <a:t>The objective of this study is to develop a predictive model for determining the likelihood of real-time reservations for Airbnb listings. By analyzing booking trends in real-time, this project aims to empower Airbnb's sales team to offer customers a more personalized and efficient booking experience.</a:t>
            </a:r>
            <a:endParaRPr lang="en-US" sz="2000">
              <a:latin typeface="Calibri"/>
              <a:cs typeface="Calibri"/>
            </a:endParaRPr>
          </a:p>
        </p:txBody>
      </p:sp>
      <p:pic>
        <p:nvPicPr>
          <p:cNvPr id="5" name="Picture 4" descr="Light bulb on yellow background with sketched light beams and cord">
            <a:extLst>
              <a:ext uri="{FF2B5EF4-FFF2-40B4-BE49-F238E27FC236}">
                <a16:creationId xmlns:a16="http://schemas.microsoft.com/office/drawing/2014/main" id="{167A5344-2625-51B1-BC29-01E78DB886BA}"/>
              </a:ext>
            </a:extLst>
          </p:cNvPr>
          <p:cNvPicPr>
            <a:picLocks noChangeAspect="1"/>
          </p:cNvPicPr>
          <p:nvPr/>
        </p:nvPicPr>
        <p:blipFill rotWithShape="1">
          <a:blip r:embed="rId2"/>
          <a:srcRect l="43789" r="1464" b="3"/>
          <a:stretch/>
        </p:blipFill>
        <p:spPr>
          <a:xfrm>
            <a:off x="6096000" y="1"/>
            <a:ext cx="6102825" cy="6858000"/>
          </a:xfrm>
          <a:prstGeom prst="rect">
            <a:avLst/>
          </a:prstGeom>
        </p:spPr>
      </p:pic>
    </p:spTree>
    <p:extLst>
      <p:ext uri="{BB962C8B-B14F-4D97-AF65-F5344CB8AC3E}">
        <p14:creationId xmlns:p14="http://schemas.microsoft.com/office/powerpoint/2010/main" val="3725220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7FCFAF-AB92-B38E-01D1-E11E21808CAB}"/>
              </a:ext>
            </a:extLst>
          </p:cNvPr>
          <p:cNvSpPr txBox="1"/>
          <p:nvPr/>
        </p:nvSpPr>
        <p:spPr>
          <a:xfrm>
            <a:off x="586597" y="3429000"/>
            <a:ext cx="3336483" cy="190168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700" kern="1200">
                <a:solidFill>
                  <a:schemeClr val="tx1"/>
                </a:solidFill>
                <a:latin typeface="+mj-lt"/>
                <a:ea typeface="+mj-ea"/>
                <a:cs typeface="+mj-cs"/>
              </a:rPr>
              <a:t>Summarized Project Timeline:</a:t>
            </a:r>
          </a:p>
          <a:p>
            <a:pPr>
              <a:lnSpc>
                <a:spcPct val="90000"/>
              </a:lnSpc>
              <a:spcBef>
                <a:spcPct val="0"/>
              </a:spcBef>
              <a:spcAft>
                <a:spcPts val="600"/>
              </a:spcAft>
            </a:pPr>
            <a:endParaRPr lang="en-US" sz="3700" kern="1200">
              <a:solidFill>
                <a:schemeClr val="tx1"/>
              </a:solidFill>
              <a:latin typeface="+mj-lt"/>
              <a:ea typeface="+mj-ea"/>
              <a:cs typeface="+mj-cs"/>
            </a:endParaRPr>
          </a:p>
          <a:p>
            <a:pPr>
              <a:lnSpc>
                <a:spcPct val="90000"/>
              </a:lnSpc>
              <a:spcBef>
                <a:spcPct val="0"/>
              </a:spcBef>
              <a:spcAft>
                <a:spcPts val="600"/>
              </a:spcAft>
            </a:pPr>
            <a:endParaRPr lang="en-US" sz="3700" kern="1200">
              <a:solidFill>
                <a:schemeClr val="tx1"/>
              </a:solidFill>
              <a:latin typeface="+mj-lt"/>
              <a:ea typeface="+mj-ea"/>
              <a:cs typeface="+mj-cs"/>
            </a:endParaRPr>
          </a:p>
          <a:p>
            <a:pPr>
              <a:lnSpc>
                <a:spcPct val="90000"/>
              </a:lnSpc>
              <a:spcBef>
                <a:spcPct val="0"/>
              </a:spcBef>
              <a:spcAft>
                <a:spcPts val="600"/>
              </a:spcAft>
            </a:pPr>
            <a:endParaRPr lang="en-US" sz="3700" kern="1200">
              <a:solidFill>
                <a:schemeClr val="tx1"/>
              </a:solidFill>
              <a:latin typeface="+mj-lt"/>
              <a:ea typeface="+mj-ea"/>
              <a:cs typeface="+mj-cs"/>
            </a:endParaRPr>
          </a:p>
        </p:txBody>
      </p:sp>
      <p:graphicFrame>
        <p:nvGraphicFramePr>
          <p:cNvPr id="6" name="Table 5">
            <a:extLst>
              <a:ext uri="{FF2B5EF4-FFF2-40B4-BE49-F238E27FC236}">
                <a16:creationId xmlns:a16="http://schemas.microsoft.com/office/drawing/2014/main" id="{68DE28B4-A6C1-0E6D-9361-1F14DB94A98B}"/>
              </a:ext>
            </a:extLst>
          </p:cNvPr>
          <p:cNvGraphicFramePr>
            <a:graphicFrameLocks noGrp="1"/>
          </p:cNvGraphicFramePr>
          <p:nvPr>
            <p:extLst>
              <p:ext uri="{D42A27DB-BD31-4B8C-83A1-F6EECF244321}">
                <p14:modId xmlns:p14="http://schemas.microsoft.com/office/powerpoint/2010/main" val="807269618"/>
              </p:ext>
            </p:extLst>
          </p:nvPr>
        </p:nvGraphicFramePr>
        <p:xfrm>
          <a:off x="4148666" y="1333500"/>
          <a:ext cx="7384217" cy="4877232"/>
        </p:xfrm>
        <a:graphic>
          <a:graphicData uri="http://schemas.openxmlformats.org/drawingml/2006/table">
            <a:tbl>
              <a:tblPr firstRow="1" bandRow="1">
                <a:solidFill>
                  <a:schemeClr val="bg1">
                    <a:lumMod val="95000"/>
                  </a:schemeClr>
                </a:solidFill>
                <a:tableStyleId>{8EC20E35-A176-4012-BC5E-935CFFF8708E}</a:tableStyleId>
              </a:tblPr>
              <a:tblGrid>
                <a:gridCol w="2254249">
                  <a:extLst>
                    <a:ext uri="{9D8B030D-6E8A-4147-A177-3AD203B41FA5}">
                      <a16:colId xmlns:a16="http://schemas.microsoft.com/office/drawing/2014/main" val="1354063526"/>
                    </a:ext>
                  </a:extLst>
                </a:gridCol>
                <a:gridCol w="2593866">
                  <a:extLst>
                    <a:ext uri="{9D8B030D-6E8A-4147-A177-3AD203B41FA5}">
                      <a16:colId xmlns:a16="http://schemas.microsoft.com/office/drawing/2014/main" val="3757042560"/>
                    </a:ext>
                  </a:extLst>
                </a:gridCol>
                <a:gridCol w="2536102">
                  <a:extLst>
                    <a:ext uri="{9D8B030D-6E8A-4147-A177-3AD203B41FA5}">
                      <a16:colId xmlns:a16="http://schemas.microsoft.com/office/drawing/2014/main" val="1349789452"/>
                    </a:ext>
                  </a:extLst>
                </a:gridCol>
              </a:tblGrid>
              <a:tr h="596122">
                <a:tc>
                  <a:txBody>
                    <a:bodyPr/>
                    <a:lstStyle/>
                    <a:p>
                      <a:r>
                        <a:rPr lang="en-US" sz="2200" b="0" cap="none" spc="0">
                          <a:solidFill>
                            <a:schemeClr val="bg1"/>
                          </a:solidFill>
                        </a:rPr>
                        <a:t>Task</a:t>
                      </a:r>
                    </a:p>
                  </a:txBody>
                  <a:tcPr marL="151397" marR="151397" marT="127973" marB="75698" anchor="ctr">
                    <a:lnL w="12700" cmpd="sng">
                      <a:noFill/>
                    </a:lnL>
                    <a:lnR w="12700" cmpd="sng">
                      <a:noFill/>
                    </a:lnR>
                    <a:lnT w="19050" cap="flat" cmpd="sng" algn="ctr">
                      <a:noFill/>
                      <a:prstDash val="solid"/>
                    </a:lnT>
                    <a:lnB w="38100" cmpd="sng">
                      <a:noFill/>
                    </a:lnB>
                    <a:solidFill>
                      <a:schemeClr val="accent2"/>
                    </a:solidFill>
                  </a:tcPr>
                </a:tc>
                <a:tc>
                  <a:txBody>
                    <a:bodyPr/>
                    <a:lstStyle/>
                    <a:p>
                      <a:r>
                        <a:rPr lang="en-US" sz="2200" b="0" cap="none" spc="0">
                          <a:solidFill>
                            <a:schemeClr val="bg1"/>
                          </a:solidFill>
                        </a:rPr>
                        <a:t>Completion Date</a:t>
                      </a:r>
                    </a:p>
                  </a:txBody>
                  <a:tcPr marL="151397" marR="151397" marT="127973" marB="75698" anchor="ctr">
                    <a:lnL w="12700" cmpd="sng">
                      <a:noFill/>
                    </a:lnL>
                    <a:lnR w="12700" cmpd="sng">
                      <a:noFill/>
                    </a:lnR>
                    <a:lnT w="19050" cap="flat" cmpd="sng" algn="ctr">
                      <a:noFill/>
                      <a:prstDash val="solid"/>
                    </a:lnT>
                    <a:lnB w="38100" cmpd="sng">
                      <a:noFill/>
                    </a:lnB>
                    <a:solidFill>
                      <a:schemeClr val="accent2"/>
                    </a:solidFill>
                  </a:tcPr>
                </a:tc>
                <a:tc>
                  <a:txBody>
                    <a:bodyPr/>
                    <a:lstStyle/>
                    <a:p>
                      <a:r>
                        <a:rPr lang="en-US" sz="2200" b="0" cap="none" spc="0">
                          <a:solidFill>
                            <a:schemeClr val="bg1"/>
                          </a:solidFill>
                        </a:rPr>
                        <a:t>Team Member</a:t>
                      </a:r>
                    </a:p>
                  </a:txBody>
                  <a:tcPr marL="151397" marR="151397" marT="127973" marB="75698"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668523178"/>
                  </a:ext>
                </a:extLst>
              </a:tr>
              <a:tr h="766753">
                <a:tc>
                  <a:txBody>
                    <a:bodyPr/>
                    <a:lstStyle/>
                    <a:p>
                      <a:r>
                        <a:rPr lang="en-US" sz="1700" cap="none" spc="0">
                          <a:solidFill>
                            <a:schemeClr val="tx1"/>
                          </a:solidFill>
                        </a:rPr>
                        <a:t>Data Cleaning and Preprocessing</a:t>
                      </a:r>
                    </a:p>
                  </a:txBody>
                  <a:tcPr marL="151397" marR="151397" marT="127973" marB="75698">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04/01/24</a:t>
                      </a:r>
                    </a:p>
                  </a:txBody>
                  <a:tcPr marL="151397" marR="151397" marT="127973" marB="75698">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err="1">
                          <a:solidFill>
                            <a:schemeClr val="tx1"/>
                          </a:solidFill>
                        </a:rPr>
                        <a:t>Vaeshnavi</a:t>
                      </a:r>
                      <a:r>
                        <a:rPr lang="en-US" sz="1700" cap="none" spc="0">
                          <a:solidFill>
                            <a:schemeClr val="tx1"/>
                          </a:solidFill>
                        </a:rPr>
                        <a:t> Reddy </a:t>
                      </a:r>
                      <a:r>
                        <a:rPr lang="en-US" sz="1700" cap="none" spc="0" err="1">
                          <a:solidFill>
                            <a:schemeClr val="tx1"/>
                          </a:solidFill>
                        </a:rPr>
                        <a:t>Alla</a:t>
                      </a:r>
                      <a:endParaRPr lang="en-US" sz="1700" cap="none" spc="0">
                        <a:solidFill>
                          <a:schemeClr val="tx1"/>
                        </a:solidFill>
                      </a:endParaRPr>
                    </a:p>
                  </a:txBody>
                  <a:tcPr marL="151397" marR="151397" marT="127973" marB="75698">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422908802"/>
                  </a:ext>
                </a:extLst>
              </a:tr>
              <a:tr h="766753">
                <a:tc>
                  <a:txBody>
                    <a:bodyPr/>
                    <a:lstStyle/>
                    <a:p>
                      <a:r>
                        <a:rPr lang="en-US" sz="1700" cap="none" spc="0">
                          <a:solidFill>
                            <a:schemeClr val="tx1"/>
                          </a:solidFill>
                        </a:rPr>
                        <a:t>EDA and data Visualization</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04/07/24</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Bhargava Devarakonda</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947662181"/>
                  </a:ext>
                </a:extLst>
              </a:tr>
              <a:tr h="510807">
                <a:tc>
                  <a:txBody>
                    <a:bodyPr/>
                    <a:lstStyle/>
                    <a:p>
                      <a:r>
                        <a:rPr lang="en-US" sz="1700" cap="none" spc="0">
                          <a:solidFill>
                            <a:schemeClr val="tx1"/>
                          </a:solidFill>
                        </a:rPr>
                        <a:t>Implementing Models</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04/13/24</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Varsha </a:t>
                      </a:r>
                      <a:r>
                        <a:rPr lang="en-US" sz="1700" cap="none" spc="0" err="1">
                          <a:solidFill>
                            <a:schemeClr val="tx1"/>
                          </a:solidFill>
                        </a:rPr>
                        <a:t>Monala</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389256383"/>
                  </a:ext>
                </a:extLst>
              </a:tr>
              <a:tr h="766753">
                <a:tc>
                  <a:txBody>
                    <a:bodyPr/>
                    <a:lstStyle/>
                    <a:p>
                      <a:r>
                        <a:rPr lang="en-US" sz="1700" cap="none" spc="0">
                          <a:solidFill>
                            <a:schemeClr val="tx1"/>
                          </a:solidFill>
                        </a:rPr>
                        <a:t>Reviewing the code and working system</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04/15/24</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Dheeraj Akash </a:t>
                      </a:r>
                      <a:r>
                        <a:rPr lang="en-US" sz="1700" cap="none" spc="0" err="1">
                          <a:solidFill>
                            <a:schemeClr val="tx1"/>
                          </a:solidFill>
                        </a:rPr>
                        <a:t>Dokuparthy</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768468797"/>
                  </a:ext>
                </a:extLst>
              </a:tr>
              <a:tr h="766753">
                <a:tc>
                  <a:txBody>
                    <a:bodyPr/>
                    <a:lstStyle/>
                    <a:p>
                      <a:r>
                        <a:rPr lang="en-US" sz="1700" cap="none" spc="0">
                          <a:solidFill>
                            <a:schemeClr val="tx1"/>
                          </a:solidFill>
                        </a:rPr>
                        <a:t>Documentation and Presentation</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04/16/24</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n-US" sz="1700" cap="none" spc="0">
                          <a:solidFill>
                            <a:schemeClr val="tx1"/>
                          </a:solidFill>
                        </a:rPr>
                        <a:t>Satya Sai Karri</a:t>
                      </a:r>
                    </a:p>
                  </a:txBody>
                  <a:tcPr marL="151397" marR="151397" marT="127973" marB="75698">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481601281"/>
                  </a:ext>
                </a:extLst>
              </a:tr>
            </a:tbl>
          </a:graphicData>
        </a:graphic>
      </p:graphicFrame>
    </p:spTree>
    <p:extLst>
      <p:ext uri="{BB962C8B-B14F-4D97-AF65-F5344CB8AC3E}">
        <p14:creationId xmlns:p14="http://schemas.microsoft.com/office/powerpoint/2010/main" val="106292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84491C-B36B-0FE3-9F2F-D7CF6FA6AF72}"/>
              </a:ext>
            </a:extLst>
          </p:cNvPr>
          <p:cNvSpPr txBox="1"/>
          <p:nvPr/>
        </p:nvSpPr>
        <p:spPr>
          <a:xfrm>
            <a:off x="242599" y="1840230"/>
            <a:ext cx="5106642" cy="353678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500">
                <a:solidFill>
                  <a:schemeClr val="tx2"/>
                </a:solidFill>
              </a:rPr>
              <a:t>The architecture explains the process that has be done to complete the project. The following are the steps:</a:t>
            </a:r>
          </a:p>
          <a:p>
            <a:pPr marL="285750" indent="-228600">
              <a:lnSpc>
                <a:spcPct val="90000"/>
              </a:lnSpc>
              <a:spcAft>
                <a:spcPts val="600"/>
              </a:spcAft>
              <a:buFont typeface="Arial" panose="020B0604020202020204" pitchFamily="34" charset="0"/>
              <a:buChar char="•"/>
            </a:pPr>
            <a:r>
              <a:rPr lang="en-US" sz="1500">
                <a:solidFill>
                  <a:schemeClr val="tx2"/>
                </a:solidFill>
              </a:rPr>
              <a:t>Defining the objective of the project.</a:t>
            </a:r>
          </a:p>
          <a:p>
            <a:pPr marL="285750" indent="-228600">
              <a:lnSpc>
                <a:spcPct val="90000"/>
              </a:lnSpc>
              <a:spcAft>
                <a:spcPts val="600"/>
              </a:spcAft>
              <a:buFont typeface="Arial" panose="020B0604020202020204" pitchFamily="34" charset="0"/>
              <a:buChar char="•"/>
            </a:pPr>
            <a:r>
              <a:rPr lang="en-US" sz="1500">
                <a:solidFill>
                  <a:schemeClr val="tx2"/>
                </a:solidFill>
              </a:rPr>
              <a:t>Understanding the objective.</a:t>
            </a:r>
          </a:p>
          <a:p>
            <a:pPr marL="285750" indent="-228600">
              <a:lnSpc>
                <a:spcPct val="90000"/>
              </a:lnSpc>
              <a:spcAft>
                <a:spcPts val="600"/>
              </a:spcAft>
              <a:buFont typeface="Arial" panose="020B0604020202020204" pitchFamily="34" charset="0"/>
              <a:buChar char="•"/>
            </a:pPr>
            <a:r>
              <a:rPr lang="en-US" sz="1500">
                <a:solidFill>
                  <a:schemeClr val="tx2"/>
                </a:solidFill>
              </a:rPr>
              <a:t>Collecting the Data.</a:t>
            </a:r>
          </a:p>
          <a:p>
            <a:pPr marL="285750" indent="-228600">
              <a:lnSpc>
                <a:spcPct val="90000"/>
              </a:lnSpc>
              <a:spcAft>
                <a:spcPts val="600"/>
              </a:spcAft>
              <a:buFont typeface="Arial" panose="020B0604020202020204" pitchFamily="34" charset="0"/>
              <a:buChar char="•"/>
            </a:pPr>
            <a:r>
              <a:rPr lang="en-US" sz="1500">
                <a:solidFill>
                  <a:schemeClr val="tx2"/>
                </a:solidFill>
              </a:rPr>
              <a:t>Data Preprocessing.</a:t>
            </a:r>
          </a:p>
          <a:p>
            <a:pPr marL="285750" indent="-228600">
              <a:lnSpc>
                <a:spcPct val="90000"/>
              </a:lnSpc>
              <a:spcAft>
                <a:spcPts val="600"/>
              </a:spcAft>
              <a:buFont typeface="Arial" panose="020B0604020202020204" pitchFamily="34" charset="0"/>
              <a:buChar char="•"/>
            </a:pPr>
            <a:r>
              <a:rPr lang="en-US" sz="1500">
                <a:solidFill>
                  <a:schemeClr val="tx2"/>
                </a:solidFill>
              </a:rPr>
              <a:t>Data visualization to understand the features better.</a:t>
            </a:r>
          </a:p>
          <a:p>
            <a:pPr marL="285750" indent="-228600">
              <a:lnSpc>
                <a:spcPct val="90000"/>
              </a:lnSpc>
              <a:spcAft>
                <a:spcPts val="600"/>
              </a:spcAft>
              <a:buFont typeface="Arial" panose="020B0604020202020204" pitchFamily="34" charset="0"/>
              <a:buChar char="•"/>
            </a:pPr>
            <a:r>
              <a:rPr lang="en-US" sz="1500">
                <a:solidFill>
                  <a:schemeClr val="tx2"/>
                </a:solidFill>
              </a:rPr>
              <a:t>EDA.</a:t>
            </a:r>
          </a:p>
          <a:p>
            <a:pPr marL="285750" indent="-228600">
              <a:lnSpc>
                <a:spcPct val="90000"/>
              </a:lnSpc>
              <a:spcAft>
                <a:spcPts val="600"/>
              </a:spcAft>
              <a:buFont typeface="Arial" panose="020B0604020202020204" pitchFamily="34" charset="0"/>
              <a:buChar char="•"/>
            </a:pPr>
            <a:r>
              <a:rPr lang="en-US" sz="1500">
                <a:solidFill>
                  <a:schemeClr val="tx2"/>
                </a:solidFill>
              </a:rPr>
              <a:t>Model Selection and Training.</a:t>
            </a:r>
          </a:p>
          <a:p>
            <a:pPr marL="285750" indent="-228600">
              <a:lnSpc>
                <a:spcPct val="90000"/>
              </a:lnSpc>
              <a:spcAft>
                <a:spcPts val="600"/>
              </a:spcAft>
              <a:buFont typeface="Arial" panose="020B0604020202020204" pitchFamily="34" charset="0"/>
              <a:buChar char="•"/>
            </a:pPr>
            <a:r>
              <a:rPr lang="en-US" sz="1500">
                <a:solidFill>
                  <a:schemeClr val="tx2"/>
                </a:solidFill>
              </a:rPr>
              <a:t>Model Evaluation.</a:t>
            </a:r>
          </a:p>
          <a:p>
            <a:pPr marL="285750" indent="-228600">
              <a:lnSpc>
                <a:spcPct val="90000"/>
              </a:lnSpc>
              <a:spcAft>
                <a:spcPts val="600"/>
              </a:spcAft>
              <a:buFont typeface="Arial" panose="020B0604020202020204" pitchFamily="34" charset="0"/>
              <a:buChar char="•"/>
            </a:pPr>
            <a:r>
              <a:rPr lang="en-US" sz="1500">
                <a:solidFill>
                  <a:schemeClr val="tx2"/>
                </a:solidFill>
              </a:rPr>
              <a:t>Predicting the best model.</a:t>
            </a:r>
          </a:p>
        </p:txBody>
      </p:sp>
      <p:pic>
        <p:nvPicPr>
          <p:cNvPr id="3" name="Picture 2" descr="A diagram of a research process&#10;&#10;Description automatically generated">
            <a:extLst>
              <a:ext uri="{FF2B5EF4-FFF2-40B4-BE49-F238E27FC236}">
                <a16:creationId xmlns:a16="http://schemas.microsoft.com/office/drawing/2014/main" id="{7395E2F1-AFF4-1C42-FF55-AA9280F29D52}"/>
              </a:ext>
            </a:extLst>
          </p:cNvPr>
          <p:cNvPicPr>
            <a:picLocks noChangeAspect="1"/>
          </p:cNvPicPr>
          <p:nvPr/>
        </p:nvPicPr>
        <p:blipFill>
          <a:blip r:embed="rId2"/>
          <a:stretch>
            <a:fillRect/>
          </a:stretch>
        </p:blipFill>
        <p:spPr>
          <a:xfrm>
            <a:off x="5495925" y="1626510"/>
            <a:ext cx="6453477" cy="4488539"/>
          </a:xfrm>
          <a:prstGeom prst="rect">
            <a:avLst/>
          </a:prstGeom>
        </p:spPr>
      </p:pic>
      <p:sp>
        <p:nvSpPr>
          <p:cNvPr id="5" name="TextBox 4">
            <a:extLst>
              <a:ext uri="{FF2B5EF4-FFF2-40B4-BE49-F238E27FC236}">
                <a16:creationId xmlns:a16="http://schemas.microsoft.com/office/drawing/2014/main" id="{CB24CBB0-9D72-7361-316A-2DE8006898C0}"/>
              </a:ext>
            </a:extLst>
          </p:cNvPr>
          <p:cNvSpPr txBox="1"/>
          <p:nvPr/>
        </p:nvSpPr>
        <p:spPr>
          <a:xfrm>
            <a:off x="596940" y="746261"/>
            <a:ext cx="4898985" cy="12772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3600">
                <a:ea typeface="+mn-lt"/>
                <a:cs typeface="+mn-lt"/>
              </a:rPr>
              <a:t>System Architecture:</a:t>
            </a:r>
          </a:p>
          <a:p>
            <a:pPr algn="l">
              <a:spcAft>
                <a:spcPts val="600"/>
              </a:spcAft>
            </a:pPr>
            <a:endParaRPr lang="en-US" sz="3600"/>
          </a:p>
        </p:txBody>
      </p:sp>
    </p:spTree>
    <p:extLst>
      <p:ext uri="{BB962C8B-B14F-4D97-AF65-F5344CB8AC3E}">
        <p14:creationId xmlns:p14="http://schemas.microsoft.com/office/powerpoint/2010/main" val="3395377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8903959-045C-2CC9-4006-E3E66500A043}"/>
              </a:ext>
            </a:extLst>
          </p:cNvPr>
          <p:cNvPicPr>
            <a:picLocks noChangeAspect="1"/>
          </p:cNvPicPr>
          <p:nvPr/>
        </p:nvPicPr>
        <p:blipFill rotWithShape="1">
          <a:blip r:embed="rId2"/>
          <a:srcRect l="13502" r="21050" b="1"/>
          <a:stretch/>
        </p:blipFill>
        <p:spPr>
          <a:xfrm>
            <a:off x="736854" y="1447122"/>
            <a:ext cx="5539147" cy="4386364"/>
          </a:xfrm>
          <a:prstGeom prst="rect">
            <a:avLst/>
          </a:prstGeom>
        </p:spPr>
      </p:pic>
      <p:sp>
        <p:nvSpPr>
          <p:cNvPr id="2" name="TextBox 1">
            <a:extLst>
              <a:ext uri="{FF2B5EF4-FFF2-40B4-BE49-F238E27FC236}">
                <a16:creationId xmlns:a16="http://schemas.microsoft.com/office/drawing/2014/main" id="{7225EF98-E680-97CF-91FE-4899C6A3FAD9}"/>
              </a:ext>
            </a:extLst>
          </p:cNvPr>
          <p:cNvSpPr txBox="1"/>
          <p:nvPr/>
        </p:nvSpPr>
        <p:spPr>
          <a:xfrm>
            <a:off x="6519813" y="1447122"/>
            <a:ext cx="4818888" cy="363682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Aft>
                <a:spcPts val="600"/>
              </a:spcAft>
            </a:pPr>
            <a:endParaRPr lang="en-US" sz="1400"/>
          </a:p>
          <a:p>
            <a:pPr indent="-228600">
              <a:lnSpc>
                <a:spcPct val="90000"/>
              </a:lnSpc>
              <a:spcAft>
                <a:spcPts val="600"/>
              </a:spcAft>
              <a:buFont typeface="Arial" panose="020B0604020202020204" pitchFamily="34" charset="0"/>
              <a:buChar char="•"/>
            </a:pPr>
            <a:r>
              <a:rPr lang="en-US" sz="1600">
                <a:solidFill>
                  <a:srgbClr val="ECECEC"/>
                </a:solidFill>
              </a:rPr>
              <a:t>The</a:t>
            </a:r>
            <a:r>
              <a:rPr lang="en-US" sz="1600">
                <a:solidFill>
                  <a:srgbClr val="ECECEC"/>
                </a:solidFill>
                <a:ea typeface="+mn-lt"/>
                <a:cs typeface="+mn-lt"/>
              </a:rPr>
              <a:t> dataset has 13800 entries and 18 features, focusing on Airbnb properties in Austin, Texas. It contains host and customer information, property IDs, location, type, and price. Pre-processing is needed due to some null values. The goal is to enhance the booking experience for Airbnb customers, aiding client retention. Features like location, reviews, lodging type, and prices will be used to analyze customer bookings.</a:t>
            </a:r>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endParaRPr lang="en-US" sz="1400"/>
          </a:p>
        </p:txBody>
      </p:sp>
      <p:sp>
        <p:nvSpPr>
          <p:cNvPr id="4" name="TextBox 3">
            <a:extLst>
              <a:ext uri="{FF2B5EF4-FFF2-40B4-BE49-F238E27FC236}">
                <a16:creationId xmlns:a16="http://schemas.microsoft.com/office/drawing/2014/main" id="{B76735EA-3BD4-95C2-BE14-97931E32A717}"/>
              </a:ext>
            </a:extLst>
          </p:cNvPr>
          <p:cNvSpPr txBox="1"/>
          <p:nvPr/>
        </p:nvSpPr>
        <p:spPr>
          <a:xfrm>
            <a:off x="3928056" y="439739"/>
            <a:ext cx="433588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Dataset specimen:</a:t>
            </a:r>
          </a:p>
        </p:txBody>
      </p:sp>
    </p:spTree>
    <p:extLst>
      <p:ext uri="{BB962C8B-B14F-4D97-AF65-F5344CB8AC3E}">
        <p14:creationId xmlns:p14="http://schemas.microsoft.com/office/powerpoint/2010/main" val="23635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42785-E3D7-A911-2867-BD4330E239D3}"/>
              </a:ext>
            </a:extLst>
          </p:cNvPr>
          <p:cNvSpPr>
            <a:spLocks noGrp="1"/>
          </p:cNvSpPr>
          <p:nvPr>
            <p:ph type="title"/>
          </p:nvPr>
        </p:nvSpPr>
        <p:spPr>
          <a:xfrm>
            <a:off x="358815" y="338884"/>
            <a:ext cx="7106855" cy="1454051"/>
          </a:xfrm>
        </p:spPr>
        <p:txBody>
          <a:bodyPr>
            <a:normAutofit/>
          </a:bodyPr>
          <a:lstStyle/>
          <a:p>
            <a:r>
              <a:rPr lang="en-US" sz="3600">
                <a:solidFill>
                  <a:schemeClr val="tx2"/>
                </a:solidFill>
                <a:latin typeface="Arial"/>
                <a:cs typeface="Arial"/>
              </a:rPr>
              <a:t>Data Processing and Analytical Approaches:</a:t>
            </a:r>
          </a:p>
        </p:txBody>
      </p:sp>
      <p:sp>
        <p:nvSpPr>
          <p:cNvPr id="3" name="Content Placeholder 2">
            <a:extLst>
              <a:ext uri="{FF2B5EF4-FFF2-40B4-BE49-F238E27FC236}">
                <a16:creationId xmlns:a16="http://schemas.microsoft.com/office/drawing/2014/main" id="{BBBAFFB8-67AB-9329-AB48-A3E93F6E1523}"/>
              </a:ext>
            </a:extLst>
          </p:cNvPr>
          <p:cNvSpPr>
            <a:spLocks noGrp="1"/>
          </p:cNvSpPr>
          <p:nvPr>
            <p:ph idx="1"/>
          </p:nvPr>
        </p:nvSpPr>
        <p:spPr>
          <a:xfrm>
            <a:off x="5685363" y="1451349"/>
            <a:ext cx="5981917" cy="4891578"/>
          </a:xfrm>
        </p:spPr>
        <p:txBody>
          <a:bodyPr vert="horz" lIns="91440" tIns="45720" rIns="91440" bIns="45720" rtlCol="0" anchor="ctr">
            <a:normAutofit/>
          </a:bodyPr>
          <a:lstStyle/>
          <a:p>
            <a:pPr>
              <a:buFont typeface="Wingdings 3" panose="020B0604020202020204" pitchFamily="34" charset="0"/>
            </a:pPr>
            <a:r>
              <a:rPr lang="en-US" sz="1500">
                <a:solidFill>
                  <a:srgbClr val="ECECEC"/>
                </a:solidFill>
                <a:ea typeface="+mj-lt"/>
                <a:cs typeface="+mj-lt"/>
              </a:rPr>
              <a:t>Explored dataset in </a:t>
            </a:r>
            <a:r>
              <a:rPr lang="en-US" sz="1500" err="1">
                <a:solidFill>
                  <a:srgbClr val="ECECEC"/>
                </a:solidFill>
                <a:ea typeface="+mj-lt"/>
                <a:cs typeface="+mj-lt"/>
              </a:rPr>
              <a:t>Jupyter</a:t>
            </a:r>
            <a:r>
              <a:rPr lang="en-US" sz="1500">
                <a:solidFill>
                  <a:srgbClr val="ECECEC"/>
                </a:solidFill>
                <a:ea typeface="+mj-lt"/>
                <a:cs typeface="+mj-lt"/>
              </a:rPr>
              <a:t> Notebook, addressing null values.</a:t>
            </a:r>
          </a:p>
          <a:p>
            <a:pPr>
              <a:buFont typeface="Wingdings 3" panose="020B0604020202020204" pitchFamily="34" charset="0"/>
            </a:pPr>
            <a:r>
              <a:rPr lang="en-US" sz="1500">
                <a:solidFill>
                  <a:srgbClr val="ECECEC"/>
                </a:solidFill>
                <a:ea typeface="+mj-lt"/>
                <a:cs typeface="+mj-lt"/>
              </a:rPr>
              <a:t>Used data visualization for insights.</a:t>
            </a:r>
          </a:p>
          <a:p>
            <a:pPr>
              <a:buFont typeface="Wingdings 3" panose="020B0604020202020204" pitchFamily="34" charset="0"/>
            </a:pPr>
            <a:r>
              <a:rPr lang="en-US" sz="1500">
                <a:solidFill>
                  <a:srgbClr val="ECECEC"/>
                </a:solidFill>
                <a:ea typeface="+mj-lt"/>
                <a:cs typeface="+mj-lt"/>
              </a:rPr>
              <a:t>Introduced booking rate variable.</a:t>
            </a:r>
          </a:p>
          <a:p>
            <a:pPr>
              <a:buFont typeface="Wingdings 3" panose="020B0604020202020204" pitchFamily="34" charset="0"/>
            </a:pPr>
            <a:r>
              <a:rPr lang="en-US" sz="1500">
                <a:solidFill>
                  <a:srgbClr val="ECECEC"/>
                </a:solidFill>
                <a:ea typeface="+mj-lt"/>
                <a:cs typeface="+mj-lt"/>
              </a:rPr>
              <a:t>Classified data into low, moderate, high booking rate categories.</a:t>
            </a:r>
          </a:p>
          <a:p>
            <a:pPr>
              <a:buFont typeface="Wingdings 3" panose="020B0604020202020204" pitchFamily="34" charset="0"/>
            </a:pPr>
            <a:r>
              <a:rPr lang="en-US" sz="1500">
                <a:solidFill>
                  <a:srgbClr val="ECECEC"/>
                </a:solidFill>
                <a:ea typeface="+mj-lt"/>
                <a:cs typeface="+mj-lt"/>
              </a:rPr>
              <a:t>Implemented </a:t>
            </a:r>
            <a:r>
              <a:rPr lang="en-US" sz="1500" err="1">
                <a:solidFill>
                  <a:srgbClr val="ECECEC"/>
                </a:solidFill>
                <a:ea typeface="+mj-lt"/>
                <a:cs typeface="+mj-lt"/>
              </a:rPr>
              <a:t>PySpark</a:t>
            </a:r>
            <a:r>
              <a:rPr lang="en-US" sz="1500">
                <a:solidFill>
                  <a:srgbClr val="ECECEC"/>
                </a:solidFill>
                <a:ea typeface="+mj-lt"/>
                <a:cs typeface="+mj-lt"/>
              </a:rPr>
              <a:t> ML algorithms: Logistic Regression, Random Forest, SVM.</a:t>
            </a:r>
            <a:endParaRPr lang="en-US"/>
          </a:p>
          <a:p>
            <a:pPr>
              <a:buFont typeface="Wingdings 3" panose="020B0604020202020204" pitchFamily="34" charset="0"/>
            </a:pPr>
            <a:r>
              <a:rPr lang="en-US" sz="1500">
                <a:solidFill>
                  <a:srgbClr val="ECECEC"/>
                </a:solidFill>
                <a:ea typeface="+mj-lt"/>
                <a:cs typeface="+mj-lt"/>
              </a:rPr>
              <a:t>Evaluated algorithm performance with accuracy metrics.</a:t>
            </a:r>
          </a:p>
          <a:p>
            <a:pPr>
              <a:spcBef>
                <a:spcPts val="0"/>
              </a:spcBef>
              <a:spcAft>
                <a:spcPts val="600"/>
              </a:spcAft>
              <a:buClr>
                <a:srgbClr val="8AD0D6"/>
              </a:buClr>
              <a:buFont typeface="Arial,Sans-Serif" panose="020B0604020202020204" pitchFamily="34" charset="0"/>
            </a:pPr>
            <a:endParaRPr lang="en-US" sz="2400">
              <a:solidFill>
                <a:schemeClr val="tx2"/>
              </a:solidFill>
              <a:latin typeface="Arial"/>
              <a:cs typeface="Arial"/>
            </a:endParaRPr>
          </a:p>
        </p:txBody>
      </p:sp>
      <p:pic>
        <p:nvPicPr>
          <p:cNvPr id="7" name="Graphic 6" descr="Statistics">
            <a:extLst>
              <a:ext uri="{FF2B5EF4-FFF2-40B4-BE49-F238E27FC236}">
                <a16:creationId xmlns:a16="http://schemas.microsoft.com/office/drawing/2014/main" id="{88353AEC-FDE9-9EDB-D5D1-8AA064F05D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9386" y="2002419"/>
            <a:ext cx="3877520" cy="3877520"/>
          </a:xfrm>
          <a:prstGeom prst="rect">
            <a:avLst/>
          </a:prstGeom>
        </p:spPr>
      </p:pic>
    </p:spTree>
    <p:extLst>
      <p:ext uri="{BB962C8B-B14F-4D97-AF65-F5344CB8AC3E}">
        <p14:creationId xmlns:p14="http://schemas.microsoft.com/office/powerpoint/2010/main" val="2081507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map of a city&#10;&#10;Description automatically generated">
            <a:extLst>
              <a:ext uri="{FF2B5EF4-FFF2-40B4-BE49-F238E27FC236}">
                <a16:creationId xmlns:a16="http://schemas.microsoft.com/office/drawing/2014/main" id="{FCCD3E27-D63E-6FE2-BA81-EA7B25E22A33}"/>
              </a:ext>
            </a:extLst>
          </p:cNvPr>
          <p:cNvPicPr>
            <a:picLocks noChangeAspect="1"/>
          </p:cNvPicPr>
          <p:nvPr/>
        </p:nvPicPr>
        <p:blipFill rotWithShape="1">
          <a:blip r:embed="rId2"/>
          <a:srcRect l="5746" t="4219" b="3912"/>
          <a:stretch/>
        </p:blipFill>
        <p:spPr>
          <a:xfrm>
            <a:off x="6207115" y="488525"/>
            <a:ext cx="5245142" cy="2940475"/>
          </a:xfrm>
          <a:prstGeom prst="rect">
            <a:avLst/>
          </a:prstGeom>
        </p:spPr>
      </p:pic>
      <p:sp>
        <p:nvSpPr>
          <p:cNvPr id="5" name="TextBox 4">
            <a:extLst>
              <a:ext uri="{FF2B5EF4-FFF2-40B4-BE49-F238E27FC236}">
                <a16:creationId xmlns:a16="http://schemas.microsoft.com/office/drawing/2014/main" id="{5B9DCCDE-B55F-A276-215F-662870634F61}"/>
              </a:ext>
            </a:extLst>
          </p:cNvPr>
          <p:cNvSpPr txBox="1"/>
          <p:nvPr/>
        </p:nvSpPr>
        <p:spPr>
          <a:xfrm>
            <a:off x="465114" y="1312017"/>
            <a:ext cx="5519773" cy="147485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800">
                <a:solidFill>
                  <a:schemeClr val="tx1">
                    <a:alpha val="80000"/>
                  </a:schemeClr>
                </a:solidFill>
                <a:latin typeface="Arial"/>
                <a:cs typeface="Arial"/>
              </a:rPr>
              <a:t>The first graph, </a:t>
            </a:r>
            <a:r>
              <a:rPr lang="en-US" sz="2800">
                <a:solidFill>
                  <a:schemeClr val="tx1">
                    <a:alpha val="80000"/>
                  </a:schemeClr>
                </a:solidFill>
                <a:latin typeface="Arial"/>
                <a:ea typeface="+mn-lt"/>
                <a:cs typeface="+mn-lt"/>
              </a:rPr>
              <a:t>shows the listings in an area, this is a map representation</a:t>
            </a:r>
            <a:r>
              <a:rPr lang="en-US" sz="2800">
                <a:solidFill>
                  <a:schemeClr val="tx1">
                    <a:alpha val="80000"/>
                  </a:schemeClr>
                </a:solidFill>
                <a:latin typeface="Arial"/>
                <a:cs typeface="Arial"/>
              </a:rPr>
              <a:t>. </a:t>
            </a:r>
            <a:endParaRPr lang="en-US"/>
          </a:p>
        </p:txBody>
      </p:sp>
      <p:sp>
        <p:nvSpPr>
          <p:cNvPr id="6" name="TextBox 5">
            <a:extLst>
              <a:ext uri="{FF2B5EF4-FFF2-40B4-BE49-F238E27FC236}">
                <a16:creationId xmlns:a16="http://schemas.microsoft.com/office/drawing/2014/main" id="{53476EC8-EFE9-B20D-F9CC-7B4333674B60}"/>
              </a:ext>
            </a:extLst>
          </p:cNvPr>
          <p:cNvSpPr txBox="1"/>
          <p:nvPr/>
        </p:nvSpPr>
        <p:spPr>
          <a:xfrm>
            <a:off x="279143" y="299508"/>
            <a:ext cx="5160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Arial"/>
                <a:cs typeface="Arial"/>
              </a:rPr>
              <a:t>Data Visualization:</a:t>
            </a:r>
          </a:p>
        </p:txBody>
      </p:sp>
      <p:sp>
        <p:nvSpPr>
          <p:cNvPr id="4" name="TextBox 3">
            <a:extLst>
              <a:ext uri="{FF2B5EF4-FFF2-40B4-BE49-F238E27FC236}">
                <a16:creationId xmlns:a16="http://schemas.microsoft.com/office/drawing/2014/main" id="{0C1B79D6-B09E-568D-766B-EEDC37674E41}"/>
              </a:ext>
            </a:extLst>
          </p:cNvPr>
          <p:cNvSpPr txBox="1"/>
          <p:nvPr/>
        </p:nvSpPr>
        <p:spPr>
          <a:xfrm>
            <a:off x="6898493" y="4314762"/>
            <a:ext cx="4921625" cy="1643527"/>
          </a:xfrm>
          <a:prstGeom prst="rect">
            <a:avLst/>
          </a:prstGeom>
          <a:noFill/>
        </p:spPr>
        <p:txBody>
          <a:bodyPr wrap="square" lIns="91440" tIns="45720" rIns="91440" bIns="45720" rtlCol="0" anchor="t">
            <a:spAutoFit/>
          </a:bodyPr>
          <a:lstStyle/>
          <a:p>
            <a:pPr>
              <a:lnSpc>
                <a:spcPct val="90000"/>
              </a:lnSpc>
              <a:spcAft>
                <a:spcPts val="600"/>
              </a:spcAft>
            </a:pPr>
            <a:r>
              <a:rPr lang="en-US" sz="2800">
                <a:solidFill>
                  <a:schemeClr val="tx1">
                    <a:alpha val="80000"/>
                  </a:schemeClr>
                </a:solidFill>
                <a:latin typeface="Arial"/>
                <a:cs typeface="Arial"/>
              </a:rPr>
              <a:t>The second graph </a:t>
            </a:r>
            <a:r>
              <a:rPr lang="en-US" sz="2800">
                <a:solidFill>
                  <a:schemeClr val="tx1">
                    <a:alpha val="80000"/>
                  </a:schemeClr>
                </a:solidFill>
                <a:latin typeface="Arial"/>
                <a:ea typeface="+mn-lt"/>
                <a:cs typeface="+mn-lt"/>
              </a:rPr>
              <a:t>is a line graph represents the monthly booking trends based on the reviews</a:t>
            </a:r>
            <a:r>
              <a:rPr lang="en-US" sz="2800">
                <a:solidFill>
                  <a:schemeClr val="tx1">
                    <a:alpha val="80000"/>
                  </a:schemeClr>
                </a:solidFill>
                <a:latin typeface="Arial"/>
                <a:cs typeface="Arial"/>
              </a:rPr>
              <a:t>. </a:t>
            </a:r>
            <a:endParaRPr lang="en-US"/>
          </a:p>
        </p:txBody>
      </p:sp>
      <p:pic>
        <p:nvPicPr>
          <p:cNvPr id="7" name="Picture 6">
            <a:extLst>
              <a:ext uri="{FF2B5EF4-FFF2-40B4-BE49-F238E27FC236}">
                <a16:creationId xmlns:a16="http://schemas.microsoft.com/office/drawing/2014/main" id="{4C4F8852-DD41-E8F0-3408-B962819DF860}"/>
              </a:ext>
            </a:extLst>
          </p:cNvPr>
          <p:cNvPicPr>
            <a:picLocks noChangeAspect="1"/>
          </p:cNvPicPr>
          <p:nvPr/>
        </p:nvPicPr>
        <p:blipFill>
          <a:blip r:embed="rId3"/>
          <a:stretch>
            <a:fillRect/>
          </a:stretch>
        </p:blipFill>
        <p:spPr>
          <a:xfrm>
            <a:off x="456847" y="3609270"/>
            <a:ext cx="5528031" cy="3082573"/>
          </a:xfrm>
          <a:prstGeom prst="rect">
            <a:avLst/>
          </a:prstGeom>
        </p:spPr>
      </p:pic>
      <p:sp>
        <p:nvSpPr>
          <p:cNvPr id="8" name="Arrow: Right 7">
            <a:extLst>
              <a:ext uri="{FF2B5EF4-FFF2-40B4-BE49-F238E27FC236}">
                <a16:creationId xmlns:a16="http://schemas.microsoft.com/office/drawing/2014/main" id="{412D0FD2-9216-DC4D-CC30-BABD2002F8E4}"/>
              </a:ext>
            </a:extLst>
          </p:cNvPr>
          <p:cNvSpPr/>
          <p:nvPr/>
        </p:nvSpPr>
        <p:spPr>
          <a:xfrm>
            <a:off x="5544206" y="1721068"/>
            <a:ext cx="564931" cy="381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E0A8958-3438-C5AF-9840-99DEF43082A9}"/>
              </a:ext>
            </a:extLst>
          </p:cNvPr>
          <p:cNvSpPr/>
          <p:nvPr/>
        </p:nvSpPr>
        <p:spPr>
          <a:xfrm rot="10800000">
            <a:off x="6109136" y="4952999"/>
            <a:ext cx="564931" cy="381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3014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544A0B-A98E-4250-BAB5-37F3890FE328}"/>
              </a:ext>
            </a:extLst>
          </p:cNvPr>
          <p:cNvSpPr txBox="1"/>
          <p:nvPr/>
        </p:nvSpPr>
        <p:spPr>
          <a:xfrm>
            <a:off x="6921263" y="1241379"/>
            <a:ext cx="5538306" cy="163463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a:lnSpc>
                <a:spcPct val="90000"/>
              </a:lnSpc>
              <a:spcAft>
                <a:spcPts val="600"/>
              </a:spcAft>
            </a:pPr>
            <a:endParaRPr lang="en-US" sz="2800">
              <a:solidFill>
                <a:srgbClr val="FFFFFF">
                  <a:alpha val="80000"/>
                </a:srgbClr>
              </a:solidFill>
              <a:latin typeface="Arial"/>
              <a:cs typeface="Arial"/>
            </a:endParaRPr>
          </a:p>
          <a:p>
            <a:pPr>
              <a:lnSpc>
                <a:spcPct val="90000"/>
              </a:lnSpc>
              <a:spcAft>
                <a:spcPts val="600"/>
              </a:spcAft>
            </a:pPr>
            <a:r>
              <a:rPr lang="en-US" sz="2800">
                <a:solidFill>
                  <a:schemeClr val="tx1">
                    <a:alpha val="80000"/>
                  </a:schemeClr>
                </a:solidFill>
                <a:latin typeface="Arial"/>
                <a:cs typeface="Arial"/>
              </a:rPr>
              <a:t>The first graph gives the information about the number of listings in a zip code.</a:t>
            </a:r>
            <a:r>
              <a:rPr lang="en-US" sz="2800">
                <a:solidFill>
                  <a:schemeClr val="tx1">
                    <a:alpha val="80000"/>
                  </a:schemeClr>
                </a:solidFill>
              </a:rPr>
              <a:t> </a:t>
            </a:r>
            <a:endParaRPr lang="en-US" sz="2800">
              <a:solidFill>
                <a:srgbClr val="FFFFFF">
                  <a:alpha val="80000"/>
                </a:srgbClr>
              </a:solidFill>
            </a:endParaRPr>
          </a:p>
        </p:txBody>
      </p:sp>
      <p:sp>
        <p:nvSpPr>
          <p:cNvPr id="6" name="TextBox 5">
            <a:extLst>
              <a:ext uri="{FF2B5EF4-FFF2-40B4-BE49-F238E27FC236}">
                <a16:creationId xmlns:a16="http://schemas.microsoft.com/office/drawing/2014/main" id="{55AC0AF3-4CEF-4312-2DB9-71C1A2EE385B}"/>
              </a:ext>
            </a:extLst>
          </p:cNvPr>
          <p:cNvSpPr txBox="1"/>
          <p:nvPr/>
        </p:nvSpPr>
        <p:spPr>
          <a:xfrm>
            <a:off x="867103" y="4624551"/>
            <a:ext cx="522626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tx1">
                    <a:alpha val="80000"/>
                  </a:schemeClr>
                </a:solidFill>
                <a:latin typeface="Arial"/>
                <a:cs typeface="Arial"/>
              </a:rPr>
              <a:t>The second graph represents the number of room types in the listings. </a:t>
            </a:r>
            <a:endParaRPr lang="en-US">
              <a:solidFill>
                <a:schemeClr val="tx1">
                  <a:alpha val="80000"/>
                </a:schemeClr>
              </a:solidFill>
            </a:endParaRPr>
          </a:p>
        </p:txBody>
      </p:sp>
      <p:sp>
        <p:nvSpPr>
          <p:cNvPr id="7" name="Arrow: Left 6">
            <a:extLst>
              <a:ext uri="{FF2B5EF4-FFF2-40B4-BE49-F238E27FC236}">
                <a16:creationId xmlns:a16="http://schemas.microsoft.com/office/drawing/2014/main" id="{D7BC9218-640B-76AE-0038-900176A3BC34}"/>
              </a:ext>
            </a:extLst>
          </p:cNvPr>
          <p:cNvSpPr/>
          <p:nvPr/>
        </p:nvSpPr>
        <p:spPr>
          <a:xfrm>
            <a:off x="6266793" y="2062654"/>
            <a:ext cx="472963" cy="38100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91ECDF9C-0DFA-72F3-F51F-9D0EDB264F30}"/>
              </a:ext>
            </a:extLst>
          </p:cNvPr>
          <p:cNvSpPr/>
          <p:nvPr/>
        </p:nvSpPr>
        <p:spPr>
          <a:xfrm>
            <a:off x="5793827" y="5031827"/>
            <a:ext cx="472965" cy="381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aph of numbers and a number of houses&#10;&#10;Description automatically generated">
            <a:extLst>
              <a:ext uri="{FF2B5EF4-FFF2-40B4-BE49-F238E27FC236}">
                <a16:creationId xmlns:a16="http://schemas.microsoft.com/office/drawing/2014/main" id="{25B62DC1-9A11-9A29-CE6B-2D710C7946C9}"/>
              </a:ext>
            </a:extLst>
          </p:cNvPr>
          <p:cNvPicPr>
            <a:picLocks noChangeAspect="1"/>
          </p:cNvPicPr>
          <p:nvPr/>
        </p:nvPicPr>
        <p:blipFill>
          <a:blip r:embed="rId2"/>
          <a:stretch>
            <a:fillRect/>
          </a:stretch>
        </p:blipFill>
        <p:spPr>
          <a:xfrm>
            <a:off x="449730" y="359833"/>
            <a:ext cx="5203596" cy="3400778"/>
          </a:xfrm>
          <a:prstGeom prst="rect">
            <a:avLst/>
          </a:prstGeom>
        </p:spPr>
      </p:pic>
      <p:pic>
        <p:nvPicPr>
          <p:cNvPr id="10" name="Picture 9" descr="A graph of a room type distribution&#10;&#10;Description automatically generated">
            <a:extLst>
              <a:ext uri="{FF2B5EF4-FFF2-40B4-BE49-F238E27FC236}">
                <a16:creationId xmlns:a16="http://schemas.microsoft.com/office/drawing/2014/main" id="{E35076A8-943A-9B8F-F4B6-DDE6857F23D9}"/>
              </a:ext>
            </a:extLst>
          </p:cNvPr>
          <p:cNvPicPr>
            <a:picLocks noChangeAspect="1"/>
          </p:cNvPicPr>
          <p:nvPr/>
        </p:nvPicPr>
        <p:blipFill>
          <a:blip r:embed="rId3"/>
          <a:stretch>
            <a:fillRect/>
          </a:stretch>
        </p:blipFill>
        <p:spPr>
          <a:xfrm>
            <a:off x="6919206" y="3227563"/>
            <a:ext cx="4936420" cy="3380317"/>
          </a:xfrm>
          <a:prstGeom prst="rect">
            <a:avLst/>
          </a:prstGeom>
        </p:spPr>
      </p:pic>
    </p:spTree>
    <p:extLst>
      <p:ext uri="{BB962C8B-B14F-4D97-AF65-F5344CB8AC3E}">
        <p14:creationId xmlns:p14="http://schemas.microsoft.com/office/powerpoint/2010/main" val="457460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7EDBD3-2F27-B368-87BC-6895CDFA30AE}"/>
              </a:ext>
            </a:extLst>
          </p:cNvPr>
          <p:cNvSpPr txBox="1"/>
          <p:nvPr/>
        </p:nvSpPr>
        <p:spPr>
          <a:xfrm>
            <a:off x="279389" y="374993"/>
            <a:ext cx="8383313" cy="83153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700" kern="1200">
                <a:latin typeface="Arial"/>
                <a:ea typeface="+mj-ea"/>
                <a:cs typeface="Arial"/>
              </a:rPr>
              <a:t>Experimental Results and Analysis</a:t>
            </a:r>
            <a:r>
              <a:rPr lang="en-US" sz="3700">
                <a:latin typeface="Arial"/>
                <a:ea typeface="+mj-ea"/>
                <a:cs typeface="Arial"/>
              </a:rPr>
              <a:t>:</a:t>
            </a:r>
            <a:endParaRPr lang="en-US">
              <a:latin typeface="Arial"/>
              <a:ea typeface="+mj-ea"/>
              <a:cs typeface="Arial"/>
            </a:endParaRPr>
          </a:p>
        </p:txBody>
      </p:sp>
      <p:sp>
        <p:nvSpPr>
          <p:cNvPr id="4" name="TextBox 3">
            <a:extLst>
              <a:ext uri="{FF2B5EF4-FFF2-40B4-BE49-F238E27FC236}">
                <a16:creationId xmlns:a16="http://schemas.microsoft.com/office/drawing/2014/main" id="{2086538A-6CFF-7CEE-731D-3FC6A5E33C3F}"/>
              </a:ext>
            </a:extLst>
          </p:cNvPr>
          <p:cNvSpPr txBox="1"/>
          <p:nvPr/>
        </p:nvSpPr>
        <p:spPr>
          <a:xfrm>
            <a:off x="278926" y="2237350"/>
            <a:ext cx="6271502" cy="182649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pPr>
            <a:r>
              <a:rPr lang="en-US" sz="3600">
                <a:latin typeface="Arial"/>
                <a:cs typeface="Arial"/>
              </a:rPr>
              <a:t>Principal Component Analysis</a:t>
            </a:r>
            <a:endParaRPr lang="en-US" sz="3600" kern="1200">
              <a:latin typeface="Arial"/>
              <a:cs typeface="Arial"/>
            </a:endParaRPr>
          </a:p>
        </p:txBody>
      </p:sp>
      <p:pic>
        <p:nvPicPr>
          <p:cNvPr id="5" name="Picture 4" descr="A number and numbers on a white background&#10;&#10;Description automatically generated">
            <a:extLst>
              <a:ext uri="{FF2B5EF4-FFF2-40B4-BE49-F238E27FC236}">
                <a16:creationId xmlns:a16="http://schemas.microsoft.com/office/drawing/2014/main" id="{15D03862-0648-FC68-3ABB-5B2D2AF19401}"/>
              </a:ext>
            </a:extLst>
          </p:cNvPr>
          <p:cNvPicPr>
            <a:picLocks noChangeAspect="1"/>
          </p:cNvPicPr>
          <p:nvPr/>
        </p:nvPicPr>
        <p:blipFill>
          <a:blip r:embed="rId2"/>
          <a:stretch>
            <a:fillRect/>
          </a:stretch>
        </p:blipFill>
        <p:spPr>
          <a:xfrm>
            <a:off x="278772" y="3868657"/>
            <a:ext cx="6010962" cy="1332351"/>
          </a:xfrm>
          <a:prstGeom prst="rect">
            <a:avLst/>
          </a:prstGeom>
        </p:spPr>
      </p:pic>
      <p:pic>
        <p:nvPicPr>
          <p:cNvPr id="6" name="Picture 5" descr="A screenshot of a computer generated diagram&#10;&#10;Description automatically generated">
            <a:extLst>
              <a:ext uri="{FF2B5EF4-FFF2-40B4-BE49-F238E27FC236}">
                <a16:creationId xmlns:a16="http://schemas.microsoft.com/office/drawing/2014/main" id="{DCD1114B-6E0A-D4C8-FBD7-252EC169F8EE}"/>
              </a:ext>
            </a:extLst>
          </p:cNvPr>
          <p:cNvPicPr>
            <a:picLocks noChangeAspect="1"/>
          </p:cNvPicPr>
          <p:nvPr/>
        </p:nvPicPr>
        <p:blipFill>
          <a:blip r:embed="rId3"/>
          <a:stretch>
            <a:fillRect/>
          </a:stretch>
        </p:blipFill>
        <p:spPr>
          <a:xfrm>
            <a:off x="6792543" y="1444302"/>
            <a:ext cx="5096529" cy="4836000"/>
          </a:xfrm>
          <a:prstGeom prst="rect">
            <a:avLst/>
          </a:prstGeom>
        </p:spPr>
      </p:pic>
    </p:spTree>
    <p:extLst>
      <p:ext uri="{BB962C8B-B14F-4D97-AF65-F5344CB8AC3E}">
        <p14:creationId xmlns:p14="http://schemas.microsoft.com/office/powerpoint/2010/main" val="663564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B6A2DB-18CC-62B0-5BFC-D8AB63BB871A}"/>
              </a:ext>
            </a:extLst>
          </p:cNvPr>
          <p:cNvSpPr txBox="1"/>
          <p:nvPr/>
        </p:nvSpPr>
        <p:spPr>
          <a:xfrm>
            <a:off x="2259011" y="233763"/>
            <a:ext cx="9730372" cy="724665"/>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a:latin typeface="+mj-lt"/>
                <a:ea typeface="+mj-ea"/>
                <a:cs typeface="+mj-cs"/>
              </a:rPr>
              <a:t>Experimental Results and Analysis</a:t>
            </a:r>
          </a:p>
        </p:txBody>
      </p:sp>
      <p:sp>
        <p:nvSpPr>
          <p:cNvPr id="5" name="TextBox 4">
            <a:extLst>
              <a:ext uri="{FF2B5EF4-FFF2-40B4-BE49-F238E27FC236}">
                <a16:creationId xmlns:a16="http://schemas.microsoft.com/office/drawing/2014/main" id="{F4DC3394-239C-5C62-AF1B-456CEC00E589}"/>
              </a:ext>
            </a:extLst>
          </p:cNvPr>
          <p:cNvSpPr txBox="1"/>
          <p:nvPr/>
        </p:nvSpPr>
        <p:spPr>
          <a:xfrm>
            <a:off x="4619426" y="1134888"/>
            <a:ext cx="2937471" cy="73314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nSpc>
                <a:spcPct val="90000"/>
              </a:lnSpc>
              <a:spcBef>
                <a:spcPts val="1000"/>
              </a:spcBef>
            </a:pPr>
            <a:r>
              <a:rPr lang="en-US" sz="3200"/>
              <a:t>ROC Curves</a:t>
            </a:r>
          </a:p>
        </p:txBody>
      </p:sp>
      <p:pic>
        <p:nvPicPr>
          <p:cNvPr id="7" name="Picture 6" descr="A graph of a logistic regression&#10;&#10;Description automatically generated">
            <a:extLst>
              <a:ext uri="{FF2B5EF4-FFF2-40B4-BE49-F238E27FC236}">
                <a16:creationId xmlns:a16="http://schemas.microsoft.com/office/drawing/2014/main" id="{AF5F211F-AFDE-17A8-296B-150454017DB4}"/>
              </a:ext>
            </a:extLst>
          </p:cNvPr>
          <p:cNvPicPr>
            <a:picLocks noChangeAspect="1"/>
          </p:cNvPicPr>
          <p:nvPr/>
        </p:nvPicPr>
        <p:blipFill>
          <a:blip r:embed="rId2"/>
          <a:stretch>
            <a:fillRect/>
          </a:stretch>
        </p:blipFill>
        <p:spPr>
          <a:xfrm>
            <a:off x="1010518" y="2000281"/>
            <a:ext cx="4483121" cy="3720747"/>
          </a:xfrm>
          <a:prstGeom prst="rect">
            <a:avLst/>
          </a:prstGeom>
        </p:spPr>
      </p:pic>
      <p:pic>
        <p:nvPicPr>
          <p:cNvPr id="8" name="Picture 7" descr="A graph of different colored lines&#10;&#10;Description automatically generated">
            <a:extLst>
              <a:ext uri="{FF2B5EF4-FFF2-40B4-BE49-F238E27FC236}">
                <a16:creationId xmlns:a16="http://schemas.microsoft.com/office/drawing/2014/main" id="{FFABBCF6-105A-774D-4108-5661290C8951}"/>
              </a:ext>
            </a:extLst>
          </p:cNvPr>
          <p:cNvPicPr>
            <a:picLocks noChangeAspect="1"/>
          </p:cNvPicPr>
          <p:nvPr/>
        </p:nvPicPr>
        <p:blipFill>
          <a:blip r:embed="rId3"/>
          <a:stretch>
            <a:fillRect/>
          </a:stretch>
        </p:blipFill>
        <p:spPr>
          <a:xfrm>
            <a:off x="6869395" y="1992064"/>
            <a:ext cx="4335815" cy="3727064"/>
          </a:xfrm>
          <a:prstGeom prst="rect">
            <a:avLst/>
          </a:prstGeom>
        </p:spPr>
      </p:pic>
      <p:sp>
        <p:nvSpPr>
          <p:cNvPr id="9" name="TextBox 8">
            <a:extLst>
              <a:ext uri="{FF2B5EF4-FFF2-40B4-BE49-F238E27FC236}">
                <a16:creationId xmlns:a16="http://schemas.microsoft.com/office/drawing/2014/main" id="{17982727-BE2C-A339-56B0-20E55A9EC8C0}"/>
              </a:ext>
            </a:extLst>
          </p:cNvPr>
          <p:cNvSpPr txBox="1"/>
          <p:nvPr/>
        </p:nvSpPr>
        <p:spPr>
          <a:xfrm>
            <a:off x="1862009" y="5947152"/>
            <a:ext cx="27886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LOGISTIC REGRESSION</a:t>
            </a:r>
          </a:p>
        </p:txBody>
      </p:sp>
      <p:sp>
        <p:nvSpPr>
          <p:cNvPr id="12" name="TextBox 11">
            <a:extLst>
              <a:ext uri="{FF2B5EF4-FFF2-40B4-BE49-F238E27FC236}">
                <a16:creationId xmlns:a16="http://schemas.microsoft.com/office/drawing/2014/main" id="{A79714C6-6915-F748-C35C-966BFDD03457}"/>
              </a:ext>
            </a:extLst>
          </p:cNvPr>
          <p:cNvSpPr txBox="1"/>
          <p:nvPr/>
        </p:nvSpPr>
        <p:spPr>
          <a:xfrm>
            <a:off x="8073028" y="5947151"/>
            <a:ext cx="27886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RANDOM FOREST</a:t>
            </a:r>
          </a:p>
        </p:txBody>
      </p:sp>
    </p:spTree>
    <p:extLst>
      <p:ext uri="{BB962C8B-B14F-4D97-AF65-F5344CB8AC3E}">
        <p14:creationId xmlns:p14="http://schemas.microsoft.com/office/powerpoint/2010/main" val="33267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68EDFC-0485-4708-703E-8DD629312042}"/>
              </a:ext>
            </a:extLst>
          </p:cNvPr>
          <p:cNvSpPr txBox="1"/>
          <p:nvPr/>
        </p:nvSpPr>
        <p:spPr>
          <a:xfrm>
            <a:off x="2797712" y="-1026"/>
            <a:ext cx="6165044" cy="580116"/>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2800">
                <a:latin typeface="Arial"/>
                <a:ea typeface="+mj-ea"/>
                <a:cs typeface="Arial"/>
              </a:rPr>
              <a:t>  Experimental Results and Analysis:</a:t>
            </a:r>
          </a:p>
        </p:txBody>
      </p:sp>
      <p:sp>
        <p:nvSpPr>
          <p:cNvPr id="5" name="TextBox 4">
            <a:extLst>
              <a:ext uri="{FF2B5EF4-FFF2-40B4-BE49-F238E27FC236}">
                <a16:creationId xmlns:a16="http://schemas.microsoft.com/office/drawing/2014/main" id="{4DEC896C-925D-0638-F6D7-A00754B0C442}"/>
              </a:ext>
            </a:extLst>
          </p:cNvPr>
          <p:cNvSpPr txBox="1"/>
          <p:nvPr/>
        </p:nvSpPr>
        <p:spPr>
          <a:xfrm>
            <a:off x="3355458" y="579057"/>
            <a:ext cx="5487468" cy="1322614"/>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pPr>
            <a:r>
              <a:rPr lang="en-US" sz="3200"/>
              <a:t>Support Vector Machine</a:t>
            </a:r>
          </a:p>
        </p:txBody>
      </p:sp>
      <p:pic>
        <p:nvPicPr>
          <p:cNvPr id="6" name="Picture 5" descr="A screenshot of a computer screen&#10;&#10;Description automatically generated">
            <a:extLst>
              <a:ext uri="{FF2B5EF4-FFF2-40B4-BE49-F238E27FC236}">
                <a16:creationId xmlns:a16="http://schemas.microsoft.com/office/drawing/2014/main" id="{78712286-0685-D29A-1CE2-2DC21A1A8990}"/>
              </a:ext>
            </a:extLst>
          </p:cNvPr>
          <p:cNvPicPr>
            <a:picLocks noChangeAspect="1"/>
          </p:cNvPicPr>
          <p:nvPr/>
        </p:nvPicPr>
        <p:blipFill>
          <a:blip r:embed="rId2"/>
          <a:stretch>
            <a:fillRect/>
          </a:stretch>
        </p:blipFill>
        <p:spPr>
          <a:xfrm>
            <a:off x="149237" y="1718320"/>
            <a:ext cx="3406910" cy="1713916"/>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BF9158BE-6210-88B4-BEEB-389EFA2AB486}"/>
              </a:ext>
            </a:extLst>
          </p:cNvPr>
          <p:cNvPicPr>
            <a:picLocks noChangeAspect="1"/>
          </p:cNvPicPr>
          <p:nvPr/>
        </p:nvPicPr>
        <p:blipFill>
          <a:blip r:embed="rId3"/>
          <a:stretch>
            <a:fillRect/>
          </a:stretch>
        </p:blipFill>
        <p:spPr>
          <a:xfrm>
            <a:off x="8577659" y="1717263"/>
            <a:ext cx="3311149" cy="170995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6474E02B-1428-8697-C1C4-C3E87B891BBC}"/>
              </a:ext>
            </a:extLst>
          </p:cNvPr>
          <p:cNvPicPr>
            <a:picLocks noChangeAspect="1"/>
          </p:cNvPicPr>
          <p:nvPr/>
        </p:nvPicPr>
        <p:blipFill>
          <a:blip r:embed="rId4"/>
          <a:stretch>
            <a:fillRect/>
          </a:stretch>
        </p:blipFill>
        <p:spPr>
          <a:xfrm>
            <a:off x="143240" y="3825099"/>
            <a:ext cx="3418903" cy="1937818"/>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4469CA8-59C6-CDA1-ABA9-CB78ED2254A6}"/>
              </a:ext>
            </a:extLst>
          </p:cNvPr>
          <p:cNvPicPr>
            <a:picLocks noChangeAspect="1"/>
          </p:cNvPicPr>
          <p:nvPr/>
        </p:nvPicPr>
        <p:blipFill>
          <a:blip r:embed="rId5"/>
          <a:stretch>
            <a:fillRect/>
          </a:stretch>
        </p:blipFill>
        <p:spPr>
          <a:xfrm>
            <a:off x="8576247" y="3962024"/>
            <a:ext cx="3307888" cy="1817730"/>
          </a:xfrm>
          <a:prstGeom prst="rect">
            <a:avLst/>
          </a:prstGeom>
        </p:spPr>
      </p:pic>
      <p:pic>
        <p:nvPicPr>
          <p:cNvPr id="10" name="Picture 9">
            <a:extLst>
              <a:ext uri="{FF2B5EF4-FFF2-40B4-BE49-F238E27FC236}">
                <a16:creationId xmlns:a16="http://schemas.microsoft.com/office/drawing/2014/main" id="{C4E6EFB1-3B48-286A-0149-877A0989E1DE}"/>
              </a:ext>
            </a:extLst>
          </p:cNvPr>
          <p:cNvPicPr>
            <a:picLocks noChangeAspect="1"/>
          </p:cNvPicPr>
          <p:nvPr/>
        </p:nvPicPr>
        <p:blipFill>
          <a:blip r:embed="rId6"/>
          <a:stretch>
            <a:fillRect/>
          </a:stretch>
        </p:blipFill>
        <p:spPr>
          <a:xfrm>
            <a:off x="3861824" y="1713040"/>
            <a:ext cx="4357166" cy="3924837"/>
          </a:xfrm>
          <a:prstGeom prst="rect">
            <a:avLst/>
          </a:prstGeom>
        </p:spPr>
      </p:pic>
    </p:spTree>
    <p:extLst>
      <p:ext uri="{BB962C8B-B14F-4D97-AF65-F5344CB8AC3E}">
        <p14:creationId xmlns:p14="http://schemas.microsoft.com/office/powerpoint/2010/main" val="2208680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4E067-DB31-A8A8-B052-E049393D8875}"/>
              </a:ext>
            </a:extLst>
          </p:cNvPr>
          <p:cNvSpPr>
            <a:spLocks noGrp="1"/>
          </p:cNvSpPr>
          <p:nvPr>
            <p:ph idx="1"/>
          </p:nvPr>
        </p:nvSpPr>
        <p:spPr>
          <a:xfrm>
            <a:off x="5479463" y="1937579"/>
            <a:ext cx="4977578" cy="3596956"/>
          </a:xfrm>
        </p:spPr>
        <p:txBody>
          <a:bodyPr vert="horz" lIns="91440" tIns="45720" rIns="91440" bIns="45720" rtlCol="0" anchor="ctr">
            <a:normAutofit/>
          </a:bodyPr>
          <a:lstStyle/>
          <a:p>
            <a:r>
              <a:rPr lang="en-US" sz="1800">
                <a:solidFill>
                  <a:schemeClr val="tx2"/>
                </a:solidFill>
                <a:latin typeface="Arial"/>
                <a:cs typeface="Arial"/>
              </a:rPr>
              <a:t>The accuracy for Logistic Regression Model is 42.66%</a:t>
            </a:r>
          </a:p>
          <a:p>
            <a:r>
              <a:rPr lang="en-US" sz="1800">
                <a:solidFill>
                  <a:schemeClr val="tx2"/>
                </a:solidFill>
                <a:latin typeface="Arial"/>
                <a:cs typeface="Arial"/>
              </a:rPr>
              <a:t>The accuracy for Random Forest Model is 48.92%</a:t>
            </a:r>
          </a:p>
          <a:p>
            <a:r>
              <a:rPr lang="en-US" sz="1800">
                <a:solidFill>
                  <a:schemeClr val="tx2"/>
                </a:solidFill>
                <a:latin typeface="Arial"/>
                <a:cs typeface="Arial"/>
              </a:rPr>
              <a:t>After running 4 different iterations of SVMs using the 4 kernels the best accuracy achieved is 46.87% with the </a:t>
            </a:r>
            <a:r>
              <a:rPr lang="en-US" sz="1800" err="1">
                <a:solidFill>
                  <a:schemeClr val="tx2"/>
                </a:solidFill>
                <a:latin typeface="Arial"/>
                <a:cs typeface="Arial"/>
              </a:rPr>
              <a:t>rbf</a:t>
            </a:r>
            <a:r>
              <a:rPr lang="en-US" sz="1800">
                <a:solidFill>
                  <a:schemeClr val="tx2"/>
                </a:solidFill>
                <a:latin typeface="Arial"/>
                <a:cs typeface="Arial"/>
              </a:rPr>
              <a:t> kernel. </a:t>
            </a:r>
          </a:p>
          <a:p>
            <a:pPr>
              <a:buClr>
                <a:srgbClr val="8AD0D6"/>
              </a:buClr>
            </a:pPr>
            <a:r>
              <a:rPr lang="en-US" sz="1800">
                <a:solidFill>
                  <a:schemeClr val="tx2"/>
                </a:solidFill>
                <a:latin typeface="Arial"/>
                <a:cs typeface="Arial"/>
              </a:rPr>
              <a:t>By observing all the predictions we can conclude that this dataset is not suitable for predictions rather can be used for data visualizations.</a:t>
            </a:r>
          </a:p>
          <a:p>
            <a:pPr marL="0" indent="0">
              <a:buNone/>
            </a:pPr>
            <a:endParaRPr lang="en-US" sz="1800">
              <a:solidFill>
                <a:schemeClr val="tx2"/>
              </a:solidFill>
              <a:latin typeface="Aptos"/>
            </a:endParaRPr>
          </a:p>
          <a:p>
            <a:endParaRPr lang="en-US" sz="1800">
              <a:solidFill>
                <a:schemeClr val="tx2"/>
              </a:solidFill>
              <a:latin typeface="Aptos"/>
            </a:endParaRPr>
          </a:p>
          <a:p>
            <a:endParaRPr lang="en-US" sz="1800">
              <a:solidFill>
                <a:schemeClr val="tx2"/>
              </a:solidFill>
              <a:latin typeface="Aptos"/>
            </a:endParaRPr>
          </a:p>
        </p:txBody>
      </p:sp>
      <p:pic>
        <p:nvPicPr>
          <p:cNvPr id="4" name="Picture 3" descr="Conclusion stamp stock vector. Illustration of square - 122257156">
            <a:extLst>
              <a:ext uri="{FF2B5EF4-FFF2-40B4-BE49-F238E27FC236}">
                <a16:creationId xmlns:a16="http://schemas.microsoft.com/office/drawing/2014/main" id="{FF3D3E3B-4E29-8416-D4D3-EDE0CF39D5C6}"/>
              </a:ext>
            </a:extLst>
          </p:cNvPr>
          <p:cNvPicPr>
            <a:picLocks noChangeAspect="1"/>
          </p:cNvPicPr>
          <p:nvPr/>
        </p:nvPicPr>
        <p:blipFill>
          <a:blip r:embed="rId2"/>
          <a:stretch>
            <a:fillRect/>
          </a:stretch>
        </p:blipFill>
        <p:spPr>
          <a:xfrm>
            <a:off x="460075" y="2355101"/>
            <a:ext cx="4845170" cy="1802741"/>
          </a:xfrm>
          <a:prstGeom prst="rect">
            <a:avLst/>
          </a:prstGeom>
        </p:spPr>
      </p:pic>
    </p:spTree>
    <p:extLst>
      <p:ext uri="{BB962C8B-B14F-4D97-AF65-F5344CB8AC3E}">
        <p14:creationId xmlns:p14="http://schemas.microsoft.com/office/powerpoint/2010/main" val="880893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087F0-8139-D10E-3E0B-DA5372580D72}"/>
              </a:ext>
            </a:extLst>
          </p:cNvPr>
          <p:cNvSpPr>
            <a:spLocks noGrp="1"/>
          </p:cNvSpPr>
          <p:nvPr>
            <p:ph type="title"/>
          </p:nvPr>
        </p:nvSpPr>
        <p:spPr>
          <a:xfrm>
            <a:off x="7925834" y="2270296"/>
            <a:ext cx="3752193" cy="2096336"/>
          </a:xfrm>
        </p:spPr>
        <p:txBody>
          <a:bodyPr>
            <a:normAutofit/>
          </a:bodyPr>
          <a:lstStyle/>
          <a:p>
            <a:r>
              <a:rPr lang="en-US">
                <a:solidFill>
                  <a:srgbClr val="FFFFFF"/>
                </a:solidFill>
                <a:latin typeface="Arial"/>
                <a:cs typeface="Arial"/>
              </a:rPr>
              <a:t>Lessons Learned and Future Scope</a:t>
            </a:r>
          </a:p>
        </p:txBody>
      </p:sp>
      <p:sp>
        <p:nvSpPr>
          <p:cNvPr id="3" name="Content Placeholder 2">
            <a:extLst>
              <a:ext uri="{FF2B5EF4-FFF2-40B4-BE49-F238E27FC236}">
                <a16:creationId xmlns:a16="http://schemas.microsoft.com/office/drawing/2014/main" id="{B82A39EA-024F-CBBA-422B-6DD19F0A75E2}"/>
              </a:ext>
            </a:extLst>
          </p:cNvPr>
          <p:cNvSpPr>
            <a:spLocks noGrp="1"/>
          </p:cNvSpPr>
          <p:nvPr>
            <p:ph idx="1"/>
          </p:nvPr>
        </p:nvSpPr>
        <p:spPr>
          <a:xfrm>
            <a:off x="975002" y="1113699"/>
            <a:ext cx="6906491" cy="5585619"/>
          </a:xfrm>
        </p:spPr>
        <p:txBody>
          <a:bodyPr vert="horz" lIns="91440" tIns="45720" rIns="91440" bIns="45720" rtlCol="0" anchor="ctr">
            <a:normAutofit/>
          </a:bodyPr>
          <a:lstStyle/>
          <a:p>
            <a:r>
              <a:rPr lang="en-US" sz="1800">
                <a:ea typeface="+mj-lt"/>
                <a:cs typeface="+mj-lt"/>
              </a:rPr>
              <a:t>Data cleaning was challenging due to the dataset's complexity, requiring extensive preprocessing for null values and inconsistencies.</a:t>
            </a:r>
          </a:p>
          <a:p>
            <a:pPr>
              <a:buClr>
                <a:srgbClr val="8AD0D6"/>
              </a:buClr>
            </a:pPr>
            <a:r>
              <a:rPr lang="en-US" sz="1800">
                <a:ea typeface="+mj-lt"/>
                <a:cs typeface="+mj-lt"/>
              </a:rPr>
              <a:t>Databricks' visualizations were less intuitive compared to other tools, but it excelled in handling large datasets efficiently and computing faster than </a:t>
            </a:r>
            <a:r>
              <a:rPr lang="en-US" sz="1800" err="1">
                <a:ea typeface="+mj-lt"/>
                <a:cs typeface="+mj-lt"/>
              </a:rPr>
              <a:t>Jupyter</a:t>
            </a:r>
            <a:r>
              <a:rPr lang="en-US" sz="1800">
                <a:ea typeface="+mj-lt"/>
                <a:cs typeface="+mj-lt"/>
              </a:rPr>
              <a:t> Notebook.</a:t>
            </a:r>
            <a:endParaRPr lang="en-US">
              <a:ea typeface="+mj-lt"/>
              <a:cs typeface="+mj-lt"/>
            </a:endParaRPr>
          </a:p>
          <a:p>
            <a:pPr>
              <a:buClr>
                <a:srgbClr val="8AD0D6"/>
              </a:buClr>
            </a:pPr>
            <a:r>
              <a:rPr lang="en-US" sz="1800">
                <a:ea typeface="+mj-lt"/>
                <a:cs typeface="+mj-lt"/>
              </a:rPr>
              <a:t>Combining Databricks for processing and </a:t>
            </a:r>
            <a:r>
              <a:rPr lang="en-US" sz="1800" err="1">
                <a:ea typeface="+mj-lt"/>
                <a:cs typeface="+mj-lt"/>
              </a:rPr>
              <a:t>Jupyter</a:t>
            </a:r>
            <a:r>
              <a:rPr lang="en-US" sz="1800">
                <a:ea typeface="+mj-lt"/>
                <a:cs typeface="+mj-lt"/>
              </a:rPr>
              <a:t> Notebook for visualization proved effective.</a:t>
            </a:r>
            <a:endParaRPr lang="en-US">
              <a:ea typeface="+mj-lt"/>
              <a:cs typeface="+mj-lt"/>
            </a:endParaRPr>
          </a:p>
          <a:p>
            <a:pPr>
              <a:buClr>
                <a:srgbClr val="8AD0D6"/>
              </a:buClr>
            </a:pPr>
            <a:r>
              <a:rPr lang="en-US" sz="1800">
                <a:ea typeface="+mj-lt"/>
                <a:cs typeface="+mj-lt"/>
              </a:rPr>
              <a:t>The dataset's scope could be improved with more varied data for better prediction of booking influences.</a:t>
            </a:r>
            <a:endParaRPr lang="en-US">
              <a:ea typeface="+mj-lt"/>
              <a:cs typeface="+mj-lt"/>
            </a:endParaRPr>
          </a:p>
          <a:p>
            <a:pPr>
              <a:buClr>
                <a:srgbClr val="8AD0D6"/>
              </a:buClr>
            </a:pPr>
            <a:r>
              <a:rPr lang="en-US" sz="1800">
                <a:ea typeface="+mj-lt"/>
                <a:cs typeface="+mj-lt"/>
              </a:rPr>
              <a:t>We saw slight gains in accuracy after using a number of models, such as Principal Component Analysis (PCA) and outlier elimination. In summary, the dataset doesn't seem to be good for making predictions; its value is more in data presentation than in predictive modeling.</a:t>
            </a:r>
            <a:endParaRPr lang="en-US" sz="1800"/>
          </a:p>
          <a:p>
            <a:endParaRPr lang="en-US" sz="1800"/>
          </a:p>
        </p:txBody>
      </p:sp>
    </p:spTree>
    <p:extLst>
      <p:ext uri="{BB962C8B-B14F-4D97-AF65-F5344CB8AC3E}">
        <p14:creationId xmlns:p14="http://schemas.microsoft.com/office/powerpoint/2010/main" val="369029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62D05-AF35-3215-981F-B58EDFD3FA1A}"/>
              </a:ext>
            </a:extLst>
          </p:cNvPr>
          <p:cNvSpPr>
            <a:spLocks noGrp="1"/>
          </p:cNvSpPr>
          <p:nvPr>
            <p:ph type="title"/>
          </p:nvPr>
        </p:nvSpPr>
        <p:spPr>
          <a:xfrm>
            <a:off x="425579" y="2455032"/>
            <a:ext cx="4377556" cy="1479906"/>
          </a:xfrm>
        </p:spPr>
        <p:txBody>
          <a:bodyPr anchor="b">
            <a:noAutofit/>
          </a:bodyPr>
          <a:lstStyle/>
          <a:p>
            <a:r>
              <a:rPr lang="en-US" sz="3600">
                <a:solidFill>
                  <a:srgbClr val="FFFFFF"/>
                </a:solidFill>
                <a:latin typeface="Arial"/>
                <a:cs typeface="Arial"/>
              </a:rPr>
              <a:t>References and Acknowledgement</a:t>
            </a:r>
            <a:endParaRPr lang="en-US" sz="3600">
              <a:latin typeface="Arial"/>
              <a:cs typeface="Arial"/>
            </a:endParaRPr>
          </a:p>
        </p:txBody>
      </p:sp>
      <p:sp>
        <p:nvSpPr>
          <p:cNvPr id="3" name="Content Placeholder 2">
            <a:extLst>
              <a:ext uri="{FF2B5EF4-FFF2-40B4-BE49-F238E27FC236}">
                <a16:creationId xmlns:a16="http://schemas.microsoft.com/office/drawing/2014/main" id="{2C011CB9-20A2-37BB-57F0-A4F7E8099DB2}"/>
              </a:ext>
            </a:extLst>
          </p:cNvPr>
          <p:cNvSpPr>
            <a:spLocks noGrp="1"/>
          </p:cNvSpPr>
          <p:nvPr>
            <p:ph idx="1"/>
          </p:nvPr>
        </p:nvSpPr>
        <p:spPr>
          <a:xfrm>
            <a:off x="4906259" y="1006377"/>
            <a:ext cx="6555347" cy="5852047"/>
          </a:xfrm>
        </p:spPr>
        <p:txBody>
          <a:bodyPr anchor="ctr">
            <a:normAutofit/>
          </a:bodyPr>
          <a:lstStyle/>
          <a:p>
            <a:r>
              <a:rPr lang="en-US" sz="1800" err="1">
                <a:latin typeface="Arial"/>
                <a:ea typeface="Calibri"/>
                <a:cs typeface="Arial"/>
              </a:rPr>
              <a:t>Kalluru</a:t>
            </a:r>
            <a:r>
              <a:rPr lang="en-US" sz="1800">
                <a:latin typeface="Arial"/>
                <a:ea typeface="Calibri"/>
                <a:cs typeface="Arial"/>
              </a:rPr>
              <a:t>, V. (2018, October 8). 3 ways predictive analytics is transforming the hospitality  industry - 7T, inc.: Dallas. 7T, Inc. | Dallas. </a:t>
            </a:r>
            <a:r>
              <a:rPr lang="en-US" sz="1800">
                <a:latin typeface="Arial"/>
                <a:ea typeface="Calibri"/>
                <a:cs typeface="Arial"/>
                <a:hlinkClick r:id="rId2"/>
              </a:rPr>
              <a:t>https://7t.co/blog/3-ways-predictive-analytics-</a:t>
            </a:r>
            <a:r>
              <a:rPr lang="en-US" sz="1800">
                <a:latin typeface="Arial"/>
                <a:ea typeface="Calibri"/>
                <a:cs typeface="Arial"/>
              </a:rPr>
              <a:t> is-transforming-the-hospitality-industry/ </a:t>
            </a:r>
            <a:endParaRPr lang="en-US" sz="1800">
              <a:latin typeface="Arial"/>
              <a:ea typeface="Calibri"/>
              <a:cs typeface="Calibri"/>
            </a:endParaRPr>
          </a:p>
          <a:p>
            <a:endParaRPr lang="en-US" sz="1800">
              <a:latin typeface="Arial"/>
              <a:ea typeface="Calibri"/>
              <a:cs typeface="Arial"/>
            </a:endParaRPr>
          </a:p>
          <a:p>
            <a:r>
              <a:rPr lang="en-US" sz="1800">
                <a:latin typeface="Arial"/>
                <a:ea typeface="Calibri"/>
                <a:cs typeface="Arial"/>
              </a:rPr>
              <a:t>Nandana Priyanka </a:t>
            </a:r>
            <a:r>
              <a:rPr lang="en-US" sz="1800" err="1">
                <a:latin typeface="Arial"/>
                <a:ea typeface="Calibri"/>
                <a:cs typeface="Arial"/>
              </a:rPr>
              <a:t>Eluri</a:t>
            </a:r>
            <a:r>
              <a:rPr lang="en-US" sz="1800">
                <a:latin typeface="Arial"/>
                <a:ea typeface="Calibri"/>
                <a:cs typeface="Arial"/>
              </a:rPr>
              <a:t>. (2021, March 17). Analysis of Airbnb Prices using Machine Learning Techniques. ieeexplore.ieee.org. </a:t>
            </a:r>
            <a:r>
              <a:rPr lang="en-US" sz="1800">
                <a:latin typeface="Arial"/>
                <a:ea typeface="Calibri"/>
                <a:cs typeface="Arial"/>
                <a:hlinkClick r:id="rId3"/>
              </a:rPr>
              <a:t>https://ieeexplore.ieee.org/document/9376144/references#references</a:t>
            </a:r>
            <a:r>
              <a:rPr lang="en-US" sz="1800">
                <a:latin typeface="Arial"/>
                <a:ea typeface="Calibri"/>
                <a:cs typeface="Arial"/>
              </a:rPr>
              <a:t> </a:t>
            </a:r>
            <a:endParaRPr lang="en-US" sz="1800">
              <a:latin typeface="Arial"/>
              <a:ea typeface="Calibri"/>
              <a:cs typeface="Calibri"/>
            </a:endParaRPr>
          </a:p>
          <a:p>
            <a:endParaRPr lang="en-US" sz="1800">
              <a:latin typeface="Arial"/>
              <a:ea typeface="Calibri"/>
              <a:cs typeface="Arial"/>
            </a:endParaRPr>
          </a:p>
          <a:p>
            <a:r>
              <a:rPr lang="en-US" sz="1800">
                <a:latin typeface="Arial"/>
                <a:ea typeface="Calibri"/>
                <a:cs typeface="Arial"/>
              </a:rPr>
              <a:t>Santos, A. I. G. P., </a:t>
            </a:r>
            <a:r>
              <a:rPr lang="en-US" sz="1800" err="1">
                <a:latin typeface="Arial"/>
                <a:ea typeface="Calibri"/>
                <a:cs typeface="Arial"/>
              </a:rPr>
              <a:t>Perinotto</a:t>
            </a:r>
            <a:r>
              <a:rPr lang="en-US" sz="1800">
                <a:latin typeface="Arial"/>
                <a:ea typeface="Calibri"/>
                <a:cs typeface="Arial"/>
              </a:rPr>
              <a:t>, A. R. C., Soares, J. R. R., Mondo, T. S., &amp; </a:t>
            </a:r>
            <a:r>
              <a:rPr lang="en-US" sz="1800" err="1">
                <a:latin typeface="Arial"/>
                <a:ea typeface="Calibri"/>
                <a:cs typeface="Arial"/>
              </a:rPr>
              <a:t>Cembranel</a:t>
            </a:r>
            <a:r>
              <a:rPr lang="en-US" sz="1800">
                <a:latin typeface="Arial"/>
                <a:ea typeface="Calibri"/>
                <a:cs typeface="Arial"/>
              </a:rPr>
              <a:t>, P. (2022, August 3). Expressing the experience: An analysis of </a:t>
            </a:r>
            <a:r>
              <a:rPr lang="en-US" sz="1800" err="1">
                <a:latin typeface="Arial"/>
                <a:ea typeface="Calibri"/>
                <a:cs typeface="Arial"/>
              </a:rPr>
              <a:t>airbnb</a:t>
            </a:r>
            <a:r>
              <a:rPr lang="en-US" sz="1800">
                <a:latin typeface="Arial"/>
                <a:ea typeface="Calibri"/>
                <a:cs typeface="Arial"/>
              </a:rPr>
              <a:t> customer sentiments. MDPI. </a:t>
            </a:r>
            <a:r>
              <a:rPr lang="en-US" sz="1800">
                <a:latin typeface="Arial"/>
                <a:ea typeface="Calibri"/>
                <a:cs typeface="Arial"/>
                <a:hlinkClick r:id="rId4"/>
              </a:rPr>
              <a:t>https://www.mdpi.com/2673-5768/3/3/42</a:t>
            </a:r>
            <a:endParaRPr lang="en-US" sz="1800">
              <a:latin typeface="Arial"/>
              <a:ea typeface="Calibri"/>
              <a:cs typeface="Calibri"/>
            </a:endParaRPr>
          </a:p>
          <a:p>
            <a:pPr>
              <a:buClr>
                <a:srgbClr val="8AD0D6"/>
              </a:buClr>
            </a:pPr>
            <a:endParaRPr lang="en-US" sz="1800">
              <a:latin typeface="Arial"/>
              <a:ea typeface="Calibri"/>
              <a:cs typeface="Arial"/>
            </a:endParaRPr>
          </a:p>
          <a:p>
            <a:pPr>
              <a:buClr>
                <a:srgbClr val="8AD0D6"/>
              </a:buClr>
            </a:pPr>
            <a:r>
              <a:rPr lang="en-US" sz="1800">
                <a:latin typeface="Arial"/>
                <a:ea typeface="Calibri"/>
                <a:cs typeface="Arial"/>
              </a:rPr>
              <a:t>We are grateful to our professor Dr. Lindi Liao and GTA Parth Dalal for supporting and guiding us in gaining the knowledge during the course and to complete this project.</a:t>
            </a:r>
          </a:p>
          <a:p>
            <a:endParaRPr lang="en-US" sz="1800">
              <a:latin typeface="Calibri"/>
              <a:ea typeface="Calibri"/>
              <a:cs typeface="Calibri"/>
            </a:endParaRPr>
          </a:p>
        </p:txBody>
      </p:sp>
    </p:spTree>
    <p:extLst>
      <p:ext uri="{BB962C8B-B14F-4D97-AF65-F5344CB8AC3E}">
        <p14:creationId xmlns:p14="http://schemas.microsoft.com/office/powerpoint/2010/main" val="13647789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A291631B8E84B84C221EC079A1CE7" ma:contentTypeVersion="14" ma:contentTypeDescription="Create a new document." ma:contentTypeScope="" ma:versionID="43468ac28bdb94dcb4627fa4a3cb9939">
  <xsd:schema xmlns:xsd="http://www.w3.org/2001/XMLSchema" xmlns:xs="http://www.w3.org/2001/XMLSchema" xmlns:p="http://schemas.microsoft.com/office/2006/metadata/properties" xmlns:ns3="6190a111-16e0-4cf4-95cd-35365ea32c0d" xmlns:ns4="d4d97c6b-c6fa-4055-849c-e3b740f26bca" targetNamespace="http://schemas.microsoft.com/office/2006/metadata/properties" ma:root="true" ma:fieldsID="194294cd141962ab56008cdce22f9dec" ns3:_="" ns4:_="">
    <xsd:import namespace="6190a111-16e0-4cf4-95cd-35365ea32c0d"/>
    <xsd:import namespace="d4d97c6b-c6fa-4055-849c-e3b740f26bca"/>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DateTaken" minOccurs="0"/>
                <xsd:element ref="ns3:MediaServiceAutoTags" minOccurs="0"/>
                <xsd:element ref="ns3:MediaLengthInSeconds" minOccurs="0"/>
                <xsd:element ref="ns3:MediaServiceObjectDetectorVersions" minOccurs="0"/>
                <xsd:element ref="ns3:MediaServiceSearchPropertie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90a111-16e0-4cf4-95cd-35365ea32c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4d97c6b-c6fa-4055-849c-e3b740f26bc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190a111-16e0-4cf4-95cd-35365ea32c0d" xsi:nil="true"/>
  </documentManagement>
</p:properties>
</file>

<file path=customXml/itemProps1.xml><?xml version="1.0" encoding="utf-8"?>
<ds:datastoreItem xmlns:ds="http://schemas.openxmlformats.org/officeDocument/2006/customXml" ds:itemID="{16318D83-643C-498E-AD56-89F059A4AE65}">
  <ds:schemaRefs>
    <ds:schemaRef ds:uri="6190a111-16e0-4cf4-95cd-35365ea32c0d"/>
    <ds:schemaRef ds:uri="d4d97c6b-c6fa-4055-849c-e3b740f26b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2C9BA2A-29F0-4B82-A78F-84C746F5D532}">
  <ds:schemaRefs>
    <ds:schemaRef ds:uri="http://schemas.microsoft.com/sharepoint/v3/contenttype/forms"/>
  </ds:schemaRefs>
</ds:datastoreItem>
</file>

<file path=customXml/itemProps3.xml><?xml version="1.0" encoding="utf-8"?>
<ds:datastoreItem xmlns:ds="http://schemas.openxmlformats.org/officeDocument/2006/customXml" ds:itemID="{B9A83AC2-73E8-470A-B266-A553B0870B7A}">
  <ds:schemaRefs>
    <ds:schemaRef ds:uri="6190a111-16e0-4cf4-95cd-35365ea32c0d"/>
    <ds:schemaRef ds:uri="d4d97c6b-c6fa-4055-849c-e3b740f26bc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Ion</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Ion</vt:lpstr>
      <vt:lpstr>Harnessing Real-Time Predictive Analytics to Optimize Booking Experiences on AirBnB, Austin  </vt:lpstr>
      <vt:lpstr>Contents</vt:lpstr>
      <vt:lpstr>Introduction</vt:lpstr>
      <vt:lpstr>Objective</vt:lpstr>
      <vt:lpstr>PowerPoint Presentation</vt:lpstr>
      <vt:lpstr>PowerPoint Presentation</vt:lpstr>
      <vt:lpstr>PowerPoint Presentation</vt:lpstr>
      <vt:lpstr>Data Processing and Analytical Approaches:</vt:lpstr>
      <vt:lpstr>PowerPoint Presentation</vt:lpstr>
      <vt:lpstr>PowerPoint Presentation</vt:lpstr>
      <vt:lpstr>PowerPoint Presentation</vt:lpstr>
      <vt:lpstr>PowerPoint Presentation</vt:lpstr>
      <vt:lpstr>PowerPoint Presentation</vt:lpstr>
      <vt:lpstr>PowerPoint Presentation</vt:lpstr>
      <vt:lpstr>Lessons Learned and Future Scope</vt:lpstr>
      <vt:lpstr>References and 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Bhargava Devarakonda</dc:creator>
  <cp:revision>4</cp:revision>
  <dcterms:created xsi:type="dcterms:W3CDTF">2024-04-16T22:30:57Z</dcterms:created>
  <dcterms:modified xsi:type="dcterms:W3CDTF">2024-04-24T03:59:50Z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0x01010004CA291631B8E84B84C221EC079A1CE7</vt:lpwstr>
  </property>
</Properties>
</file>